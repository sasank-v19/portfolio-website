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handoutMasterIdLst>
    <p:handoutMasterId r:id="rId38"/>
  </p:handoutMasterIdLst>
  <p:sldIdLst>
    <p:sldId id="256" r:id="rId2"/>
    <p:sldId id="257" r:id="rId3"/>
    <p:sldId id="258" r:id="rId4"/>
    <p:sldId id="297" r:id="rId5"/>
    <p:sldId id="298" r:id="rId6"/>
    <p:sldId id="299" r:id="rId7"/>
    <p:sldId id="260" r:id="rId8"/>
    <p:sldId id="261" r:id="rId9"/>
    <p:sldId id="274" r:id="rId10"/>
    <p:sldId id="325" r:id="rId11"/>
    <p:sldId id="326" r:id="rId12"/>
    <p:sldId id="332" r:id="rId13"/>
    <p:sldId id="328" r:id="rId14"/>
    <p:sldId id="333" r:id="rId15"/>
    <p:sldId id="329" r:id="rId16"/>
    <p:sldId id="330" r:id="rId17"/>
    <p:sldId id="331" r:id="rId18"/>
    <p:sldId id="302" r:id="rId19"/>
    <p:sldId id="303" r:id="rId20"/>
    <p:sldId id="304" r:id="rId21"/>
    <p:sldId id="305" r:id="rId22"/>
    <p:sldId id="306" r:id="rId23"/>
    <p:sldId id="308" r:id="rId24"/>
    <p:sldId id="309" r:id="rId25"/>
    <p:sldId id="310" r:id="rId26"/>
    <p:sldId id="311" r:id="rId27"/>
    <p:sldId id="312" r:id="rId28"/>
    <p:sldId id="313" r:id="rId29"/>
    <p:sldId id="316" r:id="rId30"/>
    <p:sldId id="317" r:id="rId31"/>
    <p:sldId id="318" r:id="rId32"/>
    <p:sldId id="319" r:id="rId33"/>
    <p:sldId id="320" r:id="rId34"/>
    <p:sldId id="321" r:id="rId35"/>
    <p:sldId id="322"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9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595" autoAdjust="0"/>
  </p:normalViewPr>
  <p:slideViewPr>
    <p:cSldViewPr snapToGrid="0" snapToObjects="1" showGuides="1">
      <p:cViewPr varScale="1">
        <p:scale>
          <a:sx n="78" d="100"/>
          <a:sy n="78" d="100"/>
        </p:scale>
        <p:origin x="1613" y="62"/>
      </p:cViewPr>
      <p:guideLst>
        <p:guide orient="horz" pos="2159"/>
        <p:guide pos="296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KITS</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A3EE5B-AAED-4187-AA94-7F1DC45D0890}" type="datetimeFigureOut">
              <a:rPr lang="en-IN" smtClean="0"/>
              <a:t>02-11-2025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3D1F70-29F5-4628-9B04-3FF5DABFF8AD}"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KITS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DC173-55BF-4BDD-9AA1-82A5A22AF92E}" type="datetimeFigureOut">
              <a:rPr lang="en-IN" smtClean="0"/>
              <a:t>02-11-2025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199D47-C29A-4794-8B36-D85B7C652EF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KITS</a:t>
            </a:r>
          </a:p>
        </p:txBody>
      </p:sp>
      <p:sp>
        <p:nvSpPr>
          <p:cNvPr id="5" name="Slide Number Placeholder 4"/>
          <p:cNvSpPr>
            <a:spLocks noGrp="1"/>
          </p:cNvSpPr>
          <p:nvPr>
            <p:ph type="sldNum" sz="quarter" idx="5"/>
          </p:nvPr>
        </p:nvSpPr>
        <p:spPr/>
        <p:txBody>
          <a:bodyPr/>
          <a:lstStyle/>
          <a:p>
            <a:fld id="{68199D47-C29A-4794-8B36-D85B7C652EFF}" type="slidenum">
              <a:rPr lang="en-IN" smtClean="0"/>
              <a:t>8</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5EC26F7-AB0E-490D-A173-49A0A11F8154}"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766683-22C0-421D-AFC7-749F106A3755}"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4BB25D-09A4-4767-9F76-04607804DFB5}"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4FB300-DB84-4833-9585-8E59B6BB4631}"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CDF97B-BE26-4654-B774-73F668C7C1EC}"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53D91ED-9E27-4525-B4BB-EB0EE2D802DE}"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12F6F8-1C82-41A9-B32A-67897552F919}"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E904AD-BD5B-4EEF-AE95-FBC3B8B6A96A}"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B8334D-4143-4BB6-AFC3-32A48FFB36CC}"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FDAE10-7BD9-4BD0-8C3E-5EC33D432EF9}"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EF9B0E-B1D6-4F0C-A8C5-AB5D6125F05F}"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A0186-0E0E-4EC1-96FB-D975DAC285CF}" type="datetime1">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1.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png"/><Relationship Id="rId7"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5.jpeg"/><Relationship Id="rId4" Type="http://schemas.openxmlformats.org/officeDocument/2006/relationships/image" Target="../media/image14.jpe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8.jpeg"/></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png"/><Relationship Id="rId5" Type="http://schemas.microsoft.com/office/2007/relationships/hdphoto" Target="../media/hdphoto1.wdp"/><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9336" y="1696191"/>
            <a:ext cx="8572501" cy="923330"/>
          </a:xfrm>
        </p:spPr>
        <p:txBody>
          <a:bodyPr>
            <a:normAutofit fontScale="90000"/>
          </a:bodyPr>
          <a:lstStyle/>
          <a:p>
            <a:br>
              <a:rPr lang="en-IN" sz="36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ea typeface="Comfortaa Bold" pitchFamily="34" charset="-122"/>
                <a:cs typeface="Times New Roman" panose="02020603050405020304" pitchFamily="18" charset="0"/>
              </a:rPr>
              <a:t>Intelligent Letter </a:t>
            </a:r>
            <a:r>
              <a:rPr lang="en-IN" sz="2800" b="1" dirty="0">
                <a:latin typeface="Times New Roman" panose="02020603050405020304" pitchFamily="18" charset="0"/>
                <a:ea typeface="Comfortaa Bold" pitchFamily="34" charset="-122"/>
                <a:cs typeface="Times New Roman" panose="02020603050405020304" pitchFamily="18" charset="0"/>
              </a:rPr>
              <a:t>Processing</a:t>
            </a:r>
            <a:r>
              <a:rPr lang="en-US" sz="2800" b="1" dirty="0">
                <a:latin typeface="Times New Roman" panose="02020603050405020304" pitchFamily="18" charset="0"/>
                <a:ea typeface="Comfortaa Bold" pitchFamily="34" charset="-122"/>
                <a:cs typeface="Times New Roman" panose="02020603050405020304" pitchFamily="18" charset="0"/>
              </a:rPr>
              <a:t> System For improved efficiency in Commissioner Peshi of Guntur Municipal Corporation</a:t>
            </a:r>
            <a:br>
              <a:rPr lang="en-US" sz="28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endParaRPr sz="3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rot="10800000" flipV="1">
            <a:off x="1512570" y="2529840"/>
            <a:ext cx="6259830" cy="3944620"/>
          </a:xfrm>
        </p:spPr>
        <p:txBody>
          <a:bodyPr>
            <a:normAutofit fontScale="62500" lnSpcReduction="20000"/>
          </a:bodyPr>
          <a:lstStyle/>
          <a:p>
            <a:r>
              <a:rPr lang="en-IN" sz="3600" dirty="0">
                <a:solidFill>
                  <a:schemeClr val="tx1"/>
                </a:solidFill>
                <a:latin typeface="Times New Roman" panose="02020603050405020304" pitchFamily="18" charset="0"/>
                <a:cs typeface="Times New Roman" panose="02020603050405020304" pitchFamily="18" charset="0"/>
              </a:rPr>
              <a:t>Under the Guidance of</a:t>
            </a:r>
          </a:p>
          <a:p>
            <a:r>
              <a:rPr lang="en-IN" sz="3800" b="1" dirty="0">
                <a:solidFill>
                  <a:schemeClr val="tx1"/>
                </a:solidFill>
                <a:latin typeface="Times New Roman" panose="02020603050405020304" pitchFamily="18" charset="0"/>
                <a:cs typeface="Times New Roman" panose="02020603050405020304" pitchFamily="18" charset="0"/>
              </a:rPr>
              <a:t>Ch. Durga Bhavani (Assistant professor)</a:t>
            </a:r>
          </a:p>
          <a:p>
            <a:r>
              <a:rPr lang="en-IN" sz="3800" dirty="0">
                <a:solidFill>
                  <a:schemeClr val="tx1"/>
                </a:solidFill>
                <a:latin typeface="Times New Roman" panose="02020603050405020304" pitchFamily="18" charset="0"/>
                <a:cs typeface="Times New Roman" panose="02020603050405020304" pitchFamily="18" charset="0"/>
              </a:rPr>
              <a:t>Department of</a:t>
            </a:r>
          </a:p>
          <a:p>
            <a:r>
              <a:rPr lang="en-IN" sz="3600" b="1" dirty="0">
                <a:solidFill>
                  <a:schemeClr val="tx1"/>
                </a:solidFill>
                <a:latin typeface="Times New Roman" panose="02020603050405020304" pitchFamily="18" charset="0"/>
                <a:cs typeface="Times New Roman" panose="02020603050405020304" pitchFamily="18" charset="0"/>
              </a:rPr>
              <a:t>Computer Science And Engineering</a:t>
            </a:r>
          </a:p>
          <a:p>
            <a:r>
              <a:rPr lang="en-IN" sz="3600" dirty="0">
                <a:solidFill>
                  <a:schemeClr val="tx1"/>
                </a:solidFill>
                <a:latin typeface="Times New Roman" panose="02020603050405020304" pitchFamily="18" charset="0"/>
                <a:cs typeface="Times New Roman" panose="02020603050405020304" pitchFamily="18" charset="0"/>
              </a:rPr>
              <a:t>Presented By</a:t>
            </a:r>
          </a:p>
          <a:p>
            <a:pPr algn="l"/>
            <a:r>
              <a:rPr lang="en-IN" sz="3800" dirty="0">
                <a:solidFill>
                  <a:schemeClr val="tx1"/>
                </a:solidFill>
                <a:latin typeface="Times New Roman" panose="02020603050405020304" pitchFamily="18" charset="0"/>
                <a:cs typeface="Times New Roman" panose="02020603050405020304" pitchFamily="18" charset="0"/>
              </a:rPr>
              <a:t>         V. Sasank Sai                    (21JR1A05J3)</a:t>
            </a:r>
          </a:p>
          <a:p>
            <a:pPr algn="l"/>
            <a:r>
              <a:rPr lang="en-IN" sz="3800" dirty="0">
                <a:solidFill>
                  <a:schemeClr val="tx1"/>
                </a:solidFill>
                <a:latin typeface="Times New Roman" panose="02020603050405020304" pitchFamily="18" charset="0"/>
                <a:cs typeface="Times New Roman" panose="02020603050405020304" pitchFamily="18" charset="0"/>
              </a:rPr>
              <a:t>         </a:t>
            </a:r>
            <a:r>
              <a:rPr lang="en-IN" sz="3800" dirty="0" err="1">
                <a:solidFill>
                  <a:schemeClr val="tx1"/>
                </a:solidFill>
                <a:latin typeface="Times New Roman" panose="02020603050405020304" pitchFamily="18" charset="0"/>
                <a:cs typeface="Times New Roman" panose="02020603050405020304" pitchFamily="18" charset="0"/>
              </a:rPr>
              <a:t>Sk.Sadhik</a:t>
            </a:r>
            <a:r>
              <a:rPr lang="en-IN" sz="3800" dirty="0">
                <a:solidFill>
                  <a:schemeClr val="tx1"/>
                </a:solidFill>
                <a:latin typeface="Times New Roman" panose="02020603050405020304" pitchFamily="18" charset="0"/>
                <a:cs typeface="Times New Roman" panose="02020603050405020304" pitchFamily="18" charset="0"/>
              </a:rPr>
              <a:t> 	                     (21JR1A05H6)</a:t>
            </a:r>
          </a:p>
          <a:p>
            <a:pPr algn="l"/>
            <a:r>
              <a:rPr lang="en-IN" sz="3800" dirty="0">
                <a:solidFill>
                  <a:schemeClr val="tx1"/>
                </a:solidFill>
                <a:latin typeface="Times New Roman" panose="02020603050405020304" pitchFamily="18" charset="0"/>
                <a:cs typeface="Times New Roman" panose="02020603050405020304" pitchFamily="18" charset="0"/>
              </a:rPr>
              <a:t>         </a:t>
            </a:r>
            <a:r>
              <a:rPr lang="en-IN" sz="3800" dirty="0" err="1">
                <a:solidFill>
                  <a:schemeClr val="tx1"/>
                </a:solidFill>
                <a:latin typeface="Times New Roman" panose="02020603050405020304" pitchFamily="18" charset="0"/>
                <a:cs typeface="Times New Roman" panose="02020603050405020304" pitchFamily="18" charset="0"/>
              </a:rPr>
              <a:t>T.Rohit</a:t>
            </a:r>
            <a:r>
              <a:rPr lang="en-IN" sz="3800" dirty="0">
                <a:solidFill>
                  <a:schemeClr val="tx1"/>
                </a:solidFill>
                <a:latin typeface="Times New Roman" panose="02020603050405020304" pitchFamily="18" charset="0"/>
                <a:cs typeface="Times New Roman" panose="02020603050405020304" pitchFamily="18" charset="0"/>
              </a:rPr>
              <a:t>                              (22JR5A0516) </a:t>
            </a:r>
          </a:p>
          <a:p>
            <a:pPr algn="l"/>
            <a:r>
              <a:rPr lang="en-IN" sz="3800" dirty="0">
                <a:solidFill>
                  <a:schemeClr val="tx1"/>
                </a:solidFill>
                <a:latin typeface="Times New Roman" panose="02020603050405020304" pitchFamily="18" charset="0"/>
                <a:cs typeface="Times New Roman" panose="02020603050405020304" pitchFamily="18" charset="0"/>
              </a:rPr>
              <a:t>         </a:t>
            </a:r>
            <a:r>
              <a:rPr lang="en-IN" sz="3800" dirty="0" err="1">
                <a:solidFill>
                  <a:schemeClr val="tx1"/>
                </a:solidFill>
                <a:latin typeface="Times New Roman" panose="02020603050405020304" pitchFamily="18" charset="0"/>
                <a:cs typeface="Times New Roman" panose="02020603050405020304" pitchFamily="18" charset="0"/>
              </a:rPr>
              <a:t>Y.Yaswanth</a:t>
            </a:r>
            <a:r>
              <a:rPr lang="en-IN" sz="3800" dirty="0">
                <a:solidFill>
                  <a:schemeClr val="tx1"/>
                </a:solidFill>
                <a:latin typeface="Times New Roman" panose="02020603050405020304" pitchFamily="18" charset="0"/>
                <a:cs typeface="Times New Roman" panose="02020603050405020304" pitchFamily="18" charset="0"/>
              </a:rPr>
              <a:t>              	         (21JR1A05J5)</a:t>
            </a:r>
          </a:p>
          <a:p>
            <a:pPr algn="l"/>
            <a:endParaRPr lang="en-IN" dirty="0">
              <a:latin typeface="Times New Roman" panose="02020603050405020304" pitchFamily="18" charset="0"/>
              <a:cs typeface="Times New Roman" panose="02020603050405020304" pitchFamily="18" charset="0"/>
            </a:endParaRPr>
          </a:p>
          <a:p>
            <a:pPr algn="just"/>
            <a:endParaRPr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stretch>
            <a:fillRect/>
          </a:stretch>
        </p:blipFill>
        <p:spPr>
          <a:xfrm>
            <a:off x="342900" y="136575"/>
            <a:ext cx="852854" cy="431995"/>
          </a:xfrm>
          <a:prstGeom prst="rect">
            <a:avLst/>
          </a:prstGeom>
        </p:spPr>
      </p:pic>
      <p:sp>
        <p:nvSpPr>
          <p:cNvPr id="6" name="TextBox 5"/>
          <p:cNvSpPr txBox="1"/>
          <p:nvPr/>
        </p:nvSpPr>
        <p:spPr>
          <a:xfrm>
            <a:off x="1512268" y="136575"/>
            <a:ext cx="7288831" cy="1200329"/>
          </a:xfrm>
          <a:prstGeom prst="rect">
            <a:avLst/>
          </a:prstGeom>
          <a:noFill/>
        </p:spPr>
        <p:txBody>
          <a:bodyPr wrap="square">
            <a:spAutoFit/>
          </a:bodyPr>
          <a:lstStyle/>
          <a:p>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a:t>
            </a:r>
            <a:endParaRPr lang="en-IN" dirty="0">
              <a:solidFill>
                <a:srgbClr val="22405F"/>
              </a:solidFill>
              <a:latin typeface="Times New Roman" panose="02020603050405020304" pitchFamily="18" charset="0"/>
              <a:ea typeface="Calibri" panose="020F0502020204030204" pitchFamily="34" charset="0"/>
              <a:cs typeface="SimSun" panose="02010600030101010101" pitchFamily="2" charset="-122"/>
            </a:endParaRPr>
          </a:p>
          <a:p>
            <a:pPr algn="ctr"/>
            <a:r>
              <a:rPr lang="en-IN" sz="1800" spc="1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t>
            </a:r>
            <a:r>
              <a:rPr lang="en-IN" sz="1800" spc="-2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cc</a:t>
            </a:r>
            <a:r>
              <a:rPr lang="en-IN" sz="1800" spc="-1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r</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e</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d</a:t>
            </a:r>
            <a:r>
              <a:rPr lang="en-IN" sz="1800" spc="-3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i</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ted </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b</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y </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N</a:t>
            </a:r>
            <a:r>
              <a:rPr lang="en-IN" sz="1800" spc="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B</a:t>
            </a:r>
            <a:r>
              <a:rPr lang="en-IN" sz="1800" spc="-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a:t>
            </a:r>
            <a:r>
              <a:rPr lang="en-IN" sz="1800" spc="-1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t>
            </a:r>
            <a:r>
              <a:rPr lang="en-IN" sz="1800" spc="-2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cc</a:t>
            </a:r>
            <a:r>
              <a:rPr lang="en-IN" sz="1800" spc="-1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r</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e</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d</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i</a:t>
            </a:r>
            <a:r>
              <a:rPr lang="en-IN" sz="1800" spc="-1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t</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ed </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w</a:t>
            </a:r>
            <a:r>
              <a:rPr lang="en-IN" sz="1800" spc="-3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i</a:t>
            </a:r>
            <a:r>
              <a:rPr lang="en-IN" sz="1800" spc="1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th</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 ‘A’ </a:t>
            </a:r>
            <a:r>
              <a:rPr lang="en-IN" sz="1800" spc="-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Gr</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adeby</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N</a:t>
            </a:r>
            <a:r>
              <a:rPr lang="en-IN" sz="1800" spc="-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a:t>
            </a:r>
            <a:r>
              <a:rPr lang="en-IN" sz="1800" spc="3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C</a:t>
            </a:r>
            <a:r>
              <a:rPr lang="en-IN" sz="1800" spc="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t>
            </a:r>
            <a:r>
              <a:rPr lang="en-IN" sz="1800" spc="-2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A</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p</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p</a:t>
            </a:r>
            <a:r>
              <a:rPr lang="en-IN" sz="1800" spc="-1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r</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o</a:t>
            </a:r>
            <a:r>
              <a:rPr lang="en-IN" sz="1800" spc="-25"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v</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ed </a:t>
            </a:r>
            <a:r>
              <a:rPr lang="en-IN" sz="1800" spc="2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b</a:t>
            </a:r>
            <a:r>
              <a:rPr lang="en-IN" sz="1800" dirty="0">
                <a:solidFill>
                  <a:srgbClr val="22405F"/>
                </a:solidFill>
                <a:effectLst/>
                <a:latin typeface="Times New Roman" panose="02020603050405020304" pitchFamily="18" charset="0"/>
                <a:ea typeface="Calibri" panose="020F0502020204030204" pitchFamily="34" charset="0"/>
                <a:cs typeface="SimSun" panose="02010600030101010101" pitchFamily="2" charset="-122"/>
              </a:rPr>
              <a:t>y A.I.C.T.E New Delhi || Affiliated to JNTUK, Kakinada) Vinjanampadu (Vil), Vatticherukuru (Md), Guntur (DT), A.P-522017.</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900"/>
            <a:ext cx="8229600" cy="1074738"/>
          </a:xfrm>
        </p:spPr>
        <p:txBody>
          <a:bodyPr>
            <a:normAutofit fontScale="90000"/>
          </a:bodyPr>
          <a:lstStyle/>
          <a:p>
            <a:br>
              <a:rPr lang="en-IN" sz="4890" b="1" dirty="0">
                <a:latin typeface="Times New Roman" panose="02020603050405020304" pitchFamily="18" charset="0"/>
                <a:cs typeface="Times New Roman" panose="02020603050405020304" pitchFamily="18" charset="0"/>
              </a:rPr>
            </a:br>
            <a:br>
              <a:rPr lang="en-IN" sz="4890" b="1" dirty="0">
                <a:latin typeface="Times New Roman" panose="02020603050405020304" pitchFamily="18" charset="0"/>
                <a:cs typeface="Times New Roman" panose="02020603050405020304" pitchFamily="18" charset="0"/>
              </a:rPr>
            </a:br>
            <a:r>
              <a:rPr lang="en-IN" sz="4890" b="1" dirty="0">
                <a:latin typeface="Times New Roman" panose="02020603050405020304" pitchFamily="18" charset="0"/>
                <a:cs typeface="Times New Roman" panose="02020603050405020304" pitchFamily="18" charset="0"/>
              </a:rPr>
              <a:t>Abstract</a:t>
            </a:r>
            <a:br>
              <a:rPr lang="en-IN" sz="4890" b="1" dirty="0">
                <a:latin typeface="Times New Roman" panose="02020603050405020304" pitchFamily="18" charset="0"/>
                <a:cs typeface="Times New Roman" panose="02020603050405020304" pitchFamily="18" charset="0"/>
              </a:rPr>
            </a:br>
            <a:endParaRPr lang="en-IN" sz="489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4048" y="1600200"/>
            <a:ext cx="8321040" cy="4914900"/>
          </a:xfrm>
        </p:spPr>
        <p:txBody>
          <a:bodyPr>
            <a:normAutofit/>
          </a:bodyPr>
          <a:lstStyle/>
          <a:p>
            <a:pPr algn="just"/>
            <a:r>
              <a:rPr lang="en-US" sz="1800" dirty="0">
                <a:latin typeface="Times New Roman" panose="02020603050405020304" pitchFamily="18" charset="0"/>
                <a:ea typeface="Raleway Medium" pitchFamily="34" charset="-122"/>
                <a:cs typeface="Times New Roman" panose="02020603050405020304" pitchFamily="18" charset="0"/>
              </a:rPr>
              <a:t>This project presents a comprehensive framework for an intelligent letter management system designed to address the challenges faced by the Commissioner Peshi of Guntur Municipal Corporation in managing the influx of letters and correspondence.</a:t>
            </a:r>
          </a:p>
          <a:p>
            <a:pPr algn="just"/>
            <a:r>
              <a:rPr lang="en-US" sz="1800" dirty="0">
                <a:latin typeface="Times New Roman" panose="02020603050405020304" pitchFamily="18" charset="0"/>
                <a:cs typeface="Times New Roman" panose="02020603050405020304" pitchFamily="18" charset="0"/>
              </a:rPr>
              <a:t>This proposed system leverages cutting edge technologies data analytics, to automate key tasks and enhance efficiency, leading to improved service delivery and great transparency within the municipality.</a:t>
            </a:r>
          </a:p>
          <a:p>
            <a:pPr algn="just"/>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By automating tasks such as document categorization, tracking, and ILMS enhances operational efficiency, ensures accountability, and timely supports resolution of public grievances.</a:t>
            </a:r>
          </a:p>
          <a:p>
            <a:pPr algn="just"/>
            <a:r>
              <a:rPr lang="en-GB" sz="1800" dirty="0">
                <a:latin typeface="Times New Roman" panose="02020603050405020304" pitchFamily="18" charset="0"/>
                <a:cs typeface="Times New Roman" panose="02020603050405020304" pitchFamily="18" charset="0"/>
              </a:rPr>
              <a:t>This system not only improves communication workflows but also fosters transparency and responsiveness in municipal administration, thereby strengthening governance and citizen trust.</a:t>
            </a:r>
            <a:endParaRPr lang="en-IN" sz="1800" dirty="0">
              <a:latin typeface="Times New Roman" panose="02020603050405020304" pitchFamily="18" charset="0"/>
              <a:cs typeface="Times New Roman" panose="02020603050405020304" pitchFamily="18" charset="0"/>
            </a:endParaRPr>
          </a:p>
          <a:p>
            <a:pPr algn="just"/>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a:p>
            <a:endParaRPr sz="1800" dirty="0"/>
          </a:p>
        </p:txBody>
      </p:sp>
      <p:grpSp>
        <p:nvGrpSpPr>
          <p:cNvPr id="6" name="Group 5"/>
          <p:cNvGrpSpPr/>
          <p:nvPr/>
        </p:nvGrpSpPr>
        <p:grpSpPr>
          <a:xfrm>
            <a:off x="333068" y="68824"/>
            <a:ext cx="8719931" cy="1003300"/>
            <a:chOff x="342900" y="71120"/>
            <a:chExt cx="8719931" cy="1003300"/>
          </a:xfrm>
        </p:grpSpPr>
        <p:pic>
          <p:nvPicPr>
            <p:cNvPr id="4" name="Picture 3"/>
            <p:cNvPicPr/>
            <p:nvPr/>
          </p:nvPicPr>
          <p:blipFill>
            <a:blip r:embed="rId2"/>
            <a:stretch>
              <a:fillRect/>
            </a:stretch>
          </p:blipFill>
          <p:spPr>
            <a:xfrm>
              <a:off x="342900" y="160338"/>
              <a:ext cx="990600" cy="494982"/>
            </a:xfrm>
            <a:prstGeom prst="rect">
              <a:avLst/>
            </a:prstGeom>
          </p:spPr>
        </p:pic>
        <p:sp>
          <p:nvSpPr>
            <p:cNvPr id="8" name="TextBox 7"/>
            <p:cNvSpPr txBox="1"/>
            <p:nvPr/>
          </p:nvSpPr>
          <p:spPr>
            <a:xfrm>
              <a:off x="1719169"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pic>
          <p:nvPicPr>
            <p:cNvPr id="5"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sz="4000" dirty="0">
                <a:latin typeface="Times New Roman" panose="02020603050405020304" pitchFamily="18" charset="0"/>
                <a:cs typeface="Times New Roman" panose="02020603050405020304" pitchFamily="18" charset="0"/>
              </a:rPr>
            </a:br>
            <a:r>
              <a:rPr sz="489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457200" y="1266092"/>
            <a:ext cx="8313174" cy="5375541"/>
          </a:xfrm>
        </p:spPr>
        <p:txBody>
          <a:bodyPr>
            <a:normAutofit lnSpcReduction="10000"/>
          </a:bodyPr>
          <a:lstStyle/>
          <a:p>
            <a:endParaRPr lang="en-US" sz="1800" dirty="0">
              <a:latin typeface="Times New Roman" panose="02020603050405020304" pitchFamily="18" charset="0"/>
              <a:cs typeface="Times New Roman" panose="02020603050405020304" pitchFamily="18" charset="0"/>
            </a:endParaRPr>
          </a:p>
          <a:p>
            <a:pPr algn="just"/>
            <a:r>
              <a:rPr lang="en-GB" sz="1800" dirty="0">
                <a:effectLst/>
                <a:latin typeface="Times New Roman" panose="02020603050405020304" pitchFamily="18" charset="0"/>
                <a:ea typeface="Calibri" panose="020F0502020204030204" pitchFamily="34" charset="0"/>
                <a:cs typeface="Times New Roman" panose="02020603050405020304" pitchFamily="18" charset="0"/>
              </a:rPr>
              <a:t>Currently ,Guntur Municipal Corporation (GMC) manages a large volume of official letters and correspondences on a daily basis. These letters, which include citizen grievances, internal communications, approvals, so it plays a critical role in the smooth functioning of municipal governance</a:t>
            </a:r>
            <a:r>
              <a:rPr lang="en-US" sz="1800" dirty="0">
                <a:latin typeface="Times New Roman" panose="02020603050405020304" pitchFamily="18" charset="0"/>
                <a:cs typeface="Times New Roman" panose="02020603050405020304" pitchFamily="18" charset="0"/>
              </a:rPr>
              <a:t>. </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GB" sz="1800" dirty="0">
                <a:effectLst/>
                <a:latin typeface="Times New Roman" panose="02020603050405020304" pitchFamily="18" charset="0"/>
                <a:ea typeface="Calibri" panose="020F0502020204030204" pitchFamily="34" charset="0"/>
                <a:cs typeface="Times New Roman" panose="02020603050405020304" pitchFamily="18" charset="0"/>
              </a:rPr>
              <a:t>The management of these letters is largely manual or based on outdated systems, which leads to inefficiencies such as delays in processing, difficulty in tracking letter status, misplacement of critical documents, and lack of transparency in communication workflows</a:t>
            </a:r>
            <a:r>
              <a:rPr lang="en-US" sz="1800" dirty="0">
                <a:latin typeface="Times New Roman" panose="02020603050405020304" pitchFamily="18" charset="0"/>
                <a:cs typeface="Times New Roman" panose="02020603050405020304" pitchFamily="18" charset="0"/>
              </a:rPr>
              <a:t>. </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GB" sz="1800" dirty="0">
                <a:effectLst/>
                <a:latin typeface="Times New Roman" panose="02020603050405020304" pitchFamily="18" charset="0"/>
                <a:ea typeface="Calibri" panose="020F0502020204030204" pitchFamily="34" charset="0"/>
                <a:cs typeface="Times New Roman" panose="02020603050405020304" pitchFamily="18" charset="0"/>
              </a:rPr>
              <a:t>To address these challenges, there is a requirement for an Efficient Letter Management System that automates the letter handling process, improves tracking and status updates, ensures secure digital storage, and enhances overall transparency and accountability in the corporation’s operations</a:t>
            </a:r>
            <a:r>
              <a:rPr lang="en-US" sz="1800" dirty="0">
                <a:latin typeface="Times New Roman" panose="02020603050405020304" pitchFamily="18" charset="0"/>
                <a:cs typeface="Times New Roman" panose="02020603050405020304" pitchFamily="18" charset="0"/>
              </a:rPr>
              <a:t>. </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GB" sz="1800" dirty="0">
                <a:effectLst/>
                <a:latin typeface="Times New Roman" panose="02020603050405020304" pitchFamily="18" charset="0"/>
                <a:ea typeface="Calibri" panose="020F0502020204030204" pitchFamily="34" charset="0"/>
                <a:cs typeface="Times New Roman" panose="02020603050405020304" pitchFamily="18" charset="0"/>
              </a:rPr>
              <a:t>This inefficient system hampers timely decision-making, reduces productivity, and leads to dissatisfaction among citizens and stakeholders. For instance, delayed responses to citizen grievances can harm public trust and disrupt civic operations.</a:t>
            </a:r>
            <a:endParaRPr sz="1800" dirty="0">
              <a:latin typeface="Times New Roman" panose="02020603050405020304" pitchFamily="18" charset="0"/>
              <a:cs typeface="Times New Roman" panose="02020603050405020304" pitchFamily="18" charset="0"/>
            </a:endParaRPr>
          </a:p>
        </p:txBody>
      </p:sp>
      <p:grpSp>
        <p:nvGrpSpPr>
          <p:cNvPr id="14" name="Group 13"/>
          <p:cNvGrpSpPr/>
          <p:nvPr/>
        </p:nvGrpSpPr>
        <p:grpSpPr>
          <a:xfrm>
            <a:off x="333068" y="71120"/>
            <a:ext cx="8719931" cy="1003300"/>
            <a:chOff x="342900" y="71120"/>
            <a:chExt cx="8719931" cy="1003300"/>
          </a:xfrm>
        </p:grpSpPr>
        <p:pic>
          <p:nvPicPr>
            <p:cNvPr id="15" name="Picture 14"/>
            <p:cNvPicPr/>
            <p:nvPr/>
          </p:nvPicPr>
          <p:blipFill>
            <a:blip r:embed="rId2"/>
            <a:stretch>
              <a:fillRect/>
            </a:stretch>
          </p:blipFill>
          <p:spPr>
            <a:xfrm>
              <a:off x="342900" y="160338"/>
              <a:ext cx="990600" cy="494982"/>
            </a:xfrm>
            <a:prstGeom prst="rect">
              <a:avLst/>
            </a:prstGeom>
          </p:spPr>
        </p:pic>
        <p:sp>
          <p:nvSpPr>
            <p:cNvPr id="16" name="TextBox 15"/>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pic>
          <p:nvPicPr>
            <p:cNvPr id="17"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4637" y="87923"/>
            <a:ext cx="8616463" cy="6647180"/>
          </a:xfrm>
          <a:prstGeom prst="rect">
            <a:avLst/>
          </a:prstGeom>
          <a:noFill/>
        </p:spPr>
        <p:txBody>
          <a:bodyPr wrap="square">
            <a:spAutoFit/>
          </a:bodyPr>
          <a:lstStyle/>
          <a:p>
            <a:pPr algn="ctr"/>
            <a:endParaRPr lang="en-US" sz="4000" b="1" dirty="0">
              <a:latin typeface="Times New Roman" panose="02020603050405020304" pitchFamily="18" charset="0"/>
              <a:cs typeface="Times New Roman" panose="02020603050405020304" pitchFamily="18" charset="0"/>
            </a:endParaRPr>
          </a:p>
          <a:p>
            <a:pPr algn="ctr"/>
            <a:r>
              <a:rPr lang="en-US" sz="4400" b="1" dirty="0">
                <a:latin typeface="Times New Roman" panose="02020603050405020304" pitchFamily="18" charset="0"/>
                <a:cs typeface="Times New Roman" panose="02020603050405020304" pitchFamily="18" charset="0"/>
              </a:rPr>
              <a:t>Literature Review</a:t>
            </a:r>
          </a:p>
          <a:p>
            <a:pPr algn="ct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The paper titled </a:t>
            </a:r>
            <a:r>
              <a:rPr lang="en-US" i="1" dirty="0">
                <a:latin typeface="Times New Roman" panose="02020603050405020304" pitchFamily="18" charset="0"/>
                <a:cs typeface="Times New Roman" panose="02020603050405020304" pitchFamily="18" charset="0"/>
              </a:rPr>
              <a:t>"</a:t>
            </a:r>
            <a:r>
              <a:rPr lang="en-IN" sz="1800" b="1" dirty="0">
                <a:effectLst/>
                <a:latin typeface="Times New Roman" panose="02020603050405020304" pitchFamily="18" charset="0"/>
                <a:ea typeface="Aptos" panose="020B0004020202020204" pitchFamily="34" charset="0"/>
              </a:rPr>
              <a:t>ICT-Enabled Municipal Governance: Case Studies in India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2022</a:t>
            </a:r>
            <a:r>
              <a:rPr lang="en-US" dirty="0">
                <a:latin typeface="Times New Roman" panose="02020603050405020304" pitchFamily="18" charset="0"/>
                <a:cs typeface="Times New Roman" panose="02020603050405020304" pitchFamily="18" charset="0"/>
              </a:rPr>
              <a:t>), authored by </a:t>
            </a:r>
            <a:r>
              <a:rPr lang="en-IN" sz="1800" b="1" dirty="0" err="1">
                <a:effectLst/>
                <a:latin typeface="Times New Roman" panose="02020603050405020304" pitchFamily="18" charset="0"/>
                <a:ea typeface="Aptos" panose="020B0004020202020204" pitchFamily="34" charset="0"/>
              </a:rPr>
              <a:t>Dr.</a:t>
            </a:r>
            <a:r>
              <a:rPr lang="en-IN" sz="1800" b="1" dirty="0">
                <a:effectLst/>
                <a:latin typeface="Times New Roman" panose="02020603050405020304" pitchFamily="18" charset="0"/>
                <a:ea typeface="Aptos" panose="020B0004020202020204" pitchFamily="34" charset="0"/>
              </a:rPr>
              <a:t> Rekha Jain </a:t>
            </a:r>
            <a:r>
              <a:rPr lang="en-US" dirty="0">
                <a:latin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rPr>
              <a:t>This article explores the adoption of </a:t>
            </a:r>
            <a:r>
              <a:rPr lang="en-IN" sz="1800" b="1" dirty="0">
                <a:effectLst/>
                <a:latin typeface="Times New Roman" panose="02020603050405020304" pitchFamily="18" charset="0"/>
                <a:ea typeface="Calibri" panose="020F0502020204030204" pitchFamily="34" charset="0"/>
              </a:rPr>
              <a:t>ICT (Information and Communication Technology)</a:t>
            </a:r>
            <a:r>
              <a:rPr lang="en-IN" sz="1800" dirty="0">
                <a:effectLst/>
                <a:latin typeface="Times New Roman" panose="02020603050405020304" pitchFamily="18" charset="0"/>
                <a:ea typeface="Calibri" panose="020F0502020204030204" pitchFamily="34" charset="0"/>
              </a:rPr>
              <a:t> tools for enhancing the operational efficiency of municipal governance in India. It includes </a:t>
            </a:r>
            <a:r>
              <a:rPr lang="en-IN" sz="1800" b="1" dirty="0">
                <a:effectLst/>
                <a:latin typeface="Times New Roman" panose="02020603050405020304" pitchFamily="18" charset="0"/>
                <a:ea typeface="Calibri" panose="020F0502020204030204" pitchFamily="34" charset="0"/>
              </a:rPr>
              <a:t>case studies</a:t>
            </a:r>
            <a:r>
              <a:rPr lang="en-IN" sz="1800" dirty="0">
                <a:effectLst/>
                <a:latin typeface="Times New Roman" panose="02020603050405020304" pitchFamily="18" charset="0"/>
                <a:ea typeface="Calibri" panose="020F0502020204030204" pitchFamily="34" charset="0"/>
              </a:rPr>
              <a:t> from various cities demonstrating the use of </a:t>
            </a:r>
            <a:r>
              <a:rPr lang="en-IN" sz="1800" b="1" dirty="0">
                <a:effectLst/>
                <a:latin typeface="Times New Roman" panose="02020603050405020304" pitchFamily="18" charset="0"/>
                <a:ea typeface="Calibri" panose="020F0502020204030204" pitchFamily="34" charset="0"/>
              </a:rPr>
              <a:t>digital tools</a:t>
            </a:r>
            <a:r>
              <a:rPr lang="en-IN" sz="1800" dirty="0">
                <a:effectLst/>
                <a:latin typeface="Times New Roman" panose="02020603050405020304" pitchFamily="18" charset="0"/>
                <a:ea typeface="Calibri" panose="020F0502020204030204" pitchFamily="34" charset="0"/>
              </a:rPr>
              <a:t> </a:t>
            </a:r>
            <a:r>
              <a:rPr lang="en-IN" sz="1800" b="1" dirty="0">
                <a:effectLst/>
                <a:latin typeface="Times New Roman" panose="02020603050405020304" pitchFamily="18" charset="0"/>
                <a:ea typeface="Calibri" panose="020F0502020204030204" pitchFamily="34" charset="0"/>
              </a:rPr>
              <a:t>for correspondence tracking and management</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The paper titled "</a:t>
            </a:r>
            <a:r>
              <a:rPr lang="en-IN" sz="1800" b="1" dirty="0">
                <a:effectLst/>
                <a:latin typeface="Times New Roman" panose="02020603050405020304" pitchFamily="18" charset="0"/>
                <a:ea typeface="Aptos" panose="020B0004020202020204" pitchFamily="34" charset="0"/>
              </a:rPr>
              <a:t>Digitizing Public Services</a:t>
            </a:r>
            <a:r>
              <a:rPr lang="en-IN" sz="1800" dirty="0">
                <a:effectLst/>
                <a:latin typeface="Times New Roman" panose="02020603050405020304" pitchFamily="18" charset="0"/>
                <a:ea typeface="Aptos" panose="020B0004020202020204" pitchFamily="34" charset="0"/>
              </a:rPr>
              <a:t>: </a:t>
            </a:r>
            <a:r>
              <a:rPr lang="en-IN" sz="1800" b="1" dirty="0">
                <a:effectLst/>
                <a:latin typeface="Times New Roman" panose="02020603050405020304" pitchFamily="18" charset="0"/>
                <a:ea typeface="Aptos" panose="020B0004020202020204" pitchFamily="34" charset="0"/>
              </a:rPr>
              <a:t>Transforming Local Governance with AI</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2021</a:t>
            </a:r>
            <a:r>
              <a:rPr lang="en-US" dirty="0">
                <a:latin typeface="Times New Roman" panose="02020603050405020304" pitchFamily="18" charset="0"/>
                <a:cs typeface="Times New Roman" panose="02020603050405020304" pitchFamily="18" charset="0"/>
              </a:rPr>
              <a:t>), authored by </a:t>
            </a:r>
            <a:r>
              <a:rPr lang="en-IN" sz="1800" b="1" kern="100" dirty="0" err="1">
                <a:effectLst/>
                <a:latin typeface="Times New Roman" panose="02020603050405020304" pitchFamily="18" charset="0"/>
                <a:ea typeface="Aptos" panose="020B0004020202020204" pitchFamily="34" charset="0"/>
                <a:cs typeface="Times New Roman" panose="02020603050405020304" pitchFamily="18" charset="0"/>
              </a:rPr>
              <a:t>Dr.</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Rajendra Pratap</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IN" sz="1800" dirty="0">
                <a:effectLst/>
                <a:latin typeface="Times New Roman" panose="02020603050405020304" pitchFamily="18" charset="0"/>
                <a:ea typeface="Calibri" panose="020F0502020204030204" pitchFamily="34" charset="0"/>
              </a:rPr>
              <a:t> This article explores how </a:t>
            </a:r>
            <a:r>
              <a:rPr lang="en-IN" sz="1800" b="1" dirty="0">
                <a:effectLst/>
                <a:latin typeface="Times New Roman" panose="02020603050405020304" pitchFamily="18" charset="0"/>
                <a:ea typeface="Calibri" panose="020F0502020204030204" pitchFamily="34" charset="0"/>
              </a:rPr>
              <a:t>AI</a:t>
            </a:r>
            <a:r>
              <a:rPr lang="en-IN" sz="1800" dirty="0">
                <a:effectLst/>
                <a:latin typeface="Times New Roman" panose="02020603050405020304" pitchFamily="18" charset="0"/>
                <a:ea typeface="Calibri" panose="020F0502020204030204" pitchFamily="34" charset="0"/>
              </a:rPr>
              <a:t> and </a:t>
            </a:r>
            <a:r>
              <a:rPr lang="en-IN" sz="1800" b="1" dirty="0">
                <a:effectLst/>
                <a:latin typeface="Times New Roman" panose="02020603050405020304" pitchFamily="18" charset="0"/>
                <a:ea typeface="Calibri" panose="020F0502020204030204" pitchFamily="34" charset="0"/>
              </a:rPr>
              <a:t>machine learning</a:t>
            </a:r>
            <a:r>
              <a:rPr lang="en-IN" sz="1800" dirty="0">
                <a:effectLst/>
                <a:latin typeface="Times New Roman" panose="02020603050405020304" pitchFamily="18" charset="0"/>
                <a:ea typeface="Calibri" panose="020F0502020204030204" pitchFamily="34" charset="0"/>
              </a:rPr>
              <a:t> techniques can be applied to municipal operations, particularly in improving the efficiency of services such as </a:t>
            </a:r>
            <a:r>
              <a:rPr lang="en-IN" sz="1800" b="1" dirty="0">
                <a:effectLst/>
                <a:latin typeface="Times New Roman" panose="02020603050405020304" pitchFamily="18" charset="0"/>
                <a:ea typeface="Calibri" panose="020F0502020204030204" pitchFamily="34" charset="0"/>
              </a:rPr>
              <a:t>letter processing, waste management, and traffic </a:t>
            </a:r>
            <a:r>
              <a:rPr lang="en-IN" sz="1800" b="1" dirty="0" err="1">
                <a:effectLst/>
                <a:latin typeface="Times New Roman" panose="02020603050405020304" pitchFamily="18" charset="0"/>
                <a:ea typeface="Calibri" panose="020F0502020204030204" pitchFamily="34" charset="0"/>
              </a:rPr>
              <a:t>control</a:t>
            </a:r>
            <a:r>
              <a:rPr lang="en-IN" sz="1800" dirty="0" err="1">
                <a:effectLst/>
                <a:latin typeface="Times New Roman" panose="02020603050405020304" pitchFamily="18" charset="0"/>
                <a:ea typeface="Calibri" panose="020F0502020204030204" pitchFamily="34" charset="0"/>
              </a:rPr>
              <a:t>.It</a:t>
            </a:r>
            <a:r>
              <a:rPr lang="en-IN" sz="1800" dirty="0">
                <a:effectLst/>
                <a:latin typeface="Times New Roman" panose="02020603050405020304" pitchFamily="18" charset="0"/>
                <a:ea typeface="Calibri" panose="020F0502020204030204" pitchFamily="34" charset="0"/>
              </a:rPr>
              <a:t> delves into the challenges and opportunities of integrating AI into government processes</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The paper titled "</a:t>
            </a:r>
            <a:r>
              <a:rPr lang="en-IN" sz="1800" b="1" dirty="0">
                <a:effectLst/>
                <a:latin typeface="Times New Roman" panose="02020603050405020304" pitchFamily="18" charset="0"/>
                <a:ea typeface="Aptos" panose="020B0004020202020204" pitchFamily="34" charset="0"/>
              </a:rPr>
              <a:t>Smart Governance with AI</a:t>
            </a:r>
            <a:r>
              <a:rPr lang="en-IN" sz="1800" dirty="0">
                <a:effectLst/>
                <a:latin typeface="Times New Roman" panose="02020603050405020304" pitchFamily="18" charset="0"/>
                <a:ea typeface="Aptos" panose="020B0004020202020204" pitchFamily="34" charset="0"/>
              </a:rPr>
              <a:t>: Transforming Municipal Operations</a:t>
            </a:r>
            <a:r>
              <a:rPr lang="en-US" dirty="0">
                <a:latin typeface="Times New Roman" panose="02020603050405020304" pitchFamily="18" charset="0"/>
                <a:cs typeface="Times New Roman" panose="02020603050405020304" pitchFamily="18" charset="0"/>
              </a:rPr>
              <a:t>" (2021), authored by </a:t>
            </a:r>
            <a:r>
              <a:rPr lang="en-IN" sz="1800" b="1" dirty="0" err="1">
                <a:effectLst/>
                <a:latin typeface="Times New Roman" panose="02020603050405020304" pitchFamily="18" charset="0"/>
                <a:ea typeface="Aptos" panose="020B0004020202020204" pitchFamily="34" charset="0"/>
              </a:rPr>
              <a:t>Dr.</a:t>
            </a:r>
            <a:r>
              <a:rPr lang="en-IN" sz="1800" b="1" dirty="0">
                <a:effectLst/>
                <a:latin typeface="Times New Roman" panose="02020603050405020304" pitchFamily="18" charset="0"/>
                <a:ea typeface="Aptos" panose="020B0004020202020204" pitchFamily="34" charset="0"/>
              </a:rPr>
              <a:t> Anupam Basu</a:t>
            </a:r>
            <a:r>
              <a:rPr lang="en-US" dirty="0">
                <a:latin typeface="Times New Roman" panose="02020603050405020304" pitchFamily="18" charset="0"/>
                <a:cs typeface="Times New Roman" panose="02020603050405020304" pitchFamily="18" charset="0"/>
              </a:rPr>
              <a:t>,</a:t>
            </a:r>
            <a:r>
              <a:rPr lang="en-IN" sz="1800" dirty="0">
                <a:effectLst/>
                <a:latin typeface="Times New Roman" panose="02020603050405020304" pitchFamily="18" charset="0"/>
                <a:ea typeface="Calibri" panose="020F0502020204030204" pitchFamily="34" charset="0"/>
              </a:rPr>
              <a:t>This case study outlines the design and implementation of an </a:t>
            </a:r>
            <a:r>
              <a:rPr lang="en-IN" sz="1800" b="1" dirty="0">
                <a:effectLst/>
                <a:latin typeface="Times New Roman" panose="02020603050405020304" pitchFamily="18" charset="0"/>
                <a:ea typeface="Calibri" panose="020F0502020204030204" pitchFamily="34" charset="0"/>
              </a:rPr>
              <a:t>AI-based letter management system</a:t>
            </a:r>
            <a:r>
              <a:rPr lang="en-IN" sz="1800" dirty="0">
                <a:effectLst/>
                <a:latin typeface="Times New Roman" panose="02020603050405020304" pitchFamily="18" charset="0"/>
                <a:ea typeface="Calibri" panose="020F0502020204030204" pitchFamily="34" charset="0"/>
              </a:rPr>
              <a:t> used to automate the intake, categorization, and tracking of letters in a municipal setup</a:t>
            </a:r>
            <a:r>
              <a:rPr lang="en-IN" sz="1800" b="1" dirty="0">
                <a:effectLst/>
                <a:latin typeface="Times New Roman" panose="02020603050405020304" pitchFamily="18" charset="0"/>
                <a:ea typeface="Calibri" panose="020F0502020204030204" pitchFamily="34" charset="0"/>
              </a:rPr>
              <a:t>. The system integrates OCR for scanning letters, NLP for content analysis, and machine learning</a:t>
            </a:r>
            <a:r>
              <a:rPr lang="en-IN" sz="1800" dirty="0">
                <a:effectLst/>
                <a:latin typeface="Times New Roman" panose="02020603050405020304" pitchFamily="18" charset="0"/>
                <a:ea typeface="Calibri" panose="020F0502020204030204" pitchFamily="34" charset="0"/>
              </a:rPr>
              <a:t> </a:t>
            </a:r>
            <a:r>
              <a:rPr lang="en-IN" sz="1800" b="1" dirty="0">
                <a:effectLst/>
                <a:latin typeface="Times New Roman" panose="02020603050405020304" pitchFamily="18" charset="0"/>
                <a:ea typeface="Calibri" panose="020F0502020204030204" pitchFamily="34" charset="0"/>
              </a:rPr>
              <a:t>for predicting and automating routing decisions</a:t>
            </a:r>
            <a:r>
              <a:rPr lang="en-US" b="1" dirty="0">
                <a:latin typeface="Times New Roman" panose="02020603050405020304" pitchFamily="18" charset="0"/>
                <a:cs typeface="Times New Roman" panose="02020603050405020304" pitchFamily="18" charset="0"/>
              </a:rPr>
              <a:t>. </a:t>
            </a:r>
          </a:p>
        </p:txBody>
      </p:sp>
      <p:grpSp>
        <p:nvGrpSpPr>
          <p:cNvPr id="2" name="Group 1"/>
          <p:cNvGrpSpPr/>
          <p:nvPr/>
        </p:nvGrpSpPr>
        <p:grpSpPr>
          <a:xfrm>
            <a:off x="184785" y="71120"/>
            <a:ext cx="8878046" cy="1003300"/>
            <a:chOff x="184785" y="71120"/>
            <a:chExt cx="8878046" cy="1003300"/>
          </a:xfrm>
        </p:grpSpPr>
        <p:pic>
          <p:nvPicPr>
            <p:cNvPr id="5" name="Picture 4"/>
            <p:cNvPicPr/>
            <p:nvPr/>
          </p:nvPicPr>
          <p:blipFill>
            <a:blip r:embed="rId2"/>
            <a:stretch>
              <a:fillRect/>
            </a:stretch>
          </p:blipFill>
          <p:spPr>
            <a:xfrm>
              <a:off x="184785" y="160338"/>
              <a:ext cx="990600" cy="494982"/>
            </a:xfrm>
            <a:prstGeom prst="rect">
              <a:avLst/>
            </a:prstGeom>
          </p:spPr>
        </p:pic>
        <p:sp>
          <p:nvSpPr>
            <p:cNvPr id="7" name="TextBox 6"/>
            <p:cNvSpPr txBox="1"/>
            <p:nvPr/>
          </p:nvSpPr>
          <p:spPr>
            <a:xfrm>
              <a:off x="624205" y="240665"/>
              <a:ext cx="6645275" cy="645160"/>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pic>
          <p:nvPicPr>
            <p:cNvPr id="8"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p:nvPr/>
          </p:nvPicPr>
          <p:blipFill>
            <a:blip r:embed="rId4"/>
            <a:stretch>
              <a:fillRect/>
            </a:stretch>
          </p:blipFill>
          <p:spPr>
            <a:xfrm>
              <a:off x="342900" y="160338"/>
              <a:ext cx="990600" cy="494982"/>
            </a:xfrm>
            <a:prstGeom prst="rect">
              <a:avLst/>
            </a:prstGeom>
          </p:spPr>
        </p:pic>
        <p:sp>
          <p:nvSpPr>
            <p:cNvPr id="5" name="TextBox 4"/>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
        <p:nvSpPr>
          <p:cNvPr id="3" name="TextBox 2"/>
          <p:cNvSpPr txBox="1"/>
          <p:nvPr/>
        </p:nvSpPr>
        <p:spPr>
          <a:xfrm>
            <a:off x="527537" y="940348"/>
            <a:ext cx="8220807" cy="5632311"/>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The paper, titled "</a:t>
            </a:r>
            <a:r>
              <a:rPr lang="en-IN" sz="1800" b="1" dirty="0">
                <a:effectLst/>
                <a:latin typeface="Times New Roman" panose="02020603050405020304" pitchFamily="18" charset="0"/>
                <a:ea typeface="Aptos" panose="020B0004020202020204" pitchFamily="34" charset="0"/>
              </a:rPr>
              <a:t>Towards Paperless Municipal Offices</a:t>
            </a:r>
            <a:r>
              <a:rPr lang="en-IN" sz="1800" dirty="0">
                <a:effectLst/>
                <a:latin typeface="Times New Roman" panose="02020603050405020304" pitchFamily="18" charset="0"/>
                <a:ea typeface="Aptos" panose="020B0004020202020204" pitchFamily="34" charset="0"/>
              </a:rPr>
              <a:t>: A Digital Transformation Framework</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2021</a:t>
            </a:r>
            <a:r>
              <a:rPr lang="en-US" dirty="0">
                <a:latin typeface="Times New Roman" panose="02020603050405020304" pitchFamily="18" charset="0"/>
                <a:cs typeface="Times New Roman" panose="02020603050405020304" pitchFamily="18" charset="0"/>
              </a:rPr>
              <a:t>), authored by </a:t>
            </a:r>
            <a:r>
              <a:rPr lang="en-IN" sz="1800" b="1" kern="100" dirty="0" err="1">
                <a:effectLst/>
                <a:latin typeface="Times New Roman" panose="02020603050405020304" pitchFamily="18" charset="0"/>
                <a:ea typeface="Aptos" panose="020B0004020202020204" pitchFamily="34" charset="0"/>
                <a:cs typeface="Times New Roman" panose="02020603050405020304" pitchFamily="18" charset="0"/>
              </a:rPr>
              <a:t>Dr.</a:t>
            </a: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 Venkatesh </a:t>
            </a:r>
            <a:r>
              <a:rPr lang="en-IN" sz="1800" b="1" kern="100" dirty="0" err="1">
                <a:effectLst/>
                <a:latin typeface="Times New Roman" panose="02020603050405020304" pitchFamily="18" charset="0"/>
                <a:ea typeface="Aptos" panose="020B0004020202020204" pitchFamily="34" charset="0"/>
                <a:cs typeface="Times New Roman" panose="02020603050405020304" pitchFamily="18" charset="0"/>
              </a:rPr>
              <a:t>Umakumar</a:t>
            </a:r>
            <a:r>
              <a:rPr lang="en-US" dirty="0">
                <a:latin typeface="Times New Roman" panose="02020603050405020304" pitchFamily="18" charset="0"/>
                <a:cs typeface="Times New Roman" panose="02020603050405020304" pitchFamily="18" charset="0"/>
              </a:rPr>
              <a:t>,</a:t>
            </a:r>
            <a:r>
              <a:rPr lang="en-IN" sz="1800" dirty="0">
                <a:effectLst/>
                <a:latin typeface="Times New Roman" panose="02020603050405020304" pitchFamily="18" charset="0"/>
                <a:ea typeface="Calibri" panose="020F0502020204030204" pitchFamily="34" charset="0"/>
              </a:rPr>
              <a:t>presents a </a:t>
            </a:r>
            <a:r>
              <a:rPr lang="en-IN" sz="1800" b="1" dirty="0">
                <a:effectLst/>
                <a:latin typeface="Times New Roman" panose="02020603050405020304" pitchFamily="18" charset="0"/>
                <a:ea typeface="Calibri" panose="020F0502020204030204" pitchFamily="34" charset="0"/>
              </a:rPr>
              <a:t>framework for digital transformation</a:t>
            </a:r>
            <a:r>
              <a:rPr lang="en-IN" sz="1800" dirty="0">
                <a:effectLst/>
                <a:latin typeface="Times New Roman" panose="02020603050405020304" pitchFamily="18" charset="0"/>
                <a:ea typeface="Calibri" panose="020F0502020204030204" pitchFamily="34" charset="0"/>
              </a:rPr>
              <a:t> in municipal offices, with a focus on </a:t>
            </a:r>
            <a:r>
              <a:rPr lang="en-IN" sz="1800" b="1" dirty="0">
                <a:effectLst/>
                <a:latin typeface="Times New Roman" panose="02020603050405020304" pitchFamily="18" charset="0"/>
                <a:ea typeface="Calibri" panose="020F0502020204030204" pitchFamily="34" charset="0"/>
              </a:rPr>
              <a:t>moving towards paperless operations</a:t>
            </a:r>
            <a:r>
              <a:rPr lang="en-IN" sz="1800" dirty="0">
                <a:effectLst/>
                <a:latin typeface="Times New Roman" panose="02020603050405020304" pitchFamily="18" charset="0"/>
                <a:ea typeface="Calibri" panose="020F0502020204030204" pitchFamily="34" charset="0"/>
              </a:rPr>
              <a:t>. It emphasizes the need for </a:t>
            </a:r>
            <a:r>
              <a:rPr lang="en-IN" sz="1800" b="1" dirty="0">
                <a:effectLst/>
                <a:latin typeface="Times New Roman" panose="02020603050405020304" pitchFamily="18" charset="0"/>
                <a:ea typeface="Calibri" panose="020F0502020204030204" pitchFamily="34" charset="0"/>
              </a:rPr>
              <a:t>digital solutions</a:t>
            </a:r>
            <a:r>
              <a:rPr lang="en-IN" sz="1800" dirty="0">
                <a:effectLst/>
                <a:latin typeface="Times New Roman" panose="02020603050405020304" pitchFamily="18" charset="0"/>
                <a:ea typeface="Calibri" panose="020F0502020204030204" pitchFamily="34" charset="0"/>
              </a:rPr>
              <a:t> to automate document management, streamline workflows, and enable faster processing of public correspondence</a:t>
            </a:r>
            <a:r>
              <a:rPr lang="en-US" dirty="0">
                <a:latin typeface="Times New Roman" panose="02020603050405020304" pitchFamily="18" charset="0"/>
                <a:cs typeface="Times New Roman" panose="02020603050405020304" pitchFamily="18" charset="0"/>
              </a:rPr>
              <a:t>.</a:t>
            </a:r>
          </a:p>
          <a:p>
            <a:pPr algn="just"/>
            <a:endParaRPr lang="en-US" dirty="0"/>
          </a:p>
          <a:p>
            <a:pPr algn="just"/>
            <a:r>
              <a:rPr lang="en-US" b="1" dirty="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The paper "</a:t>
            </a:r>
            <a:r>
              <a:rPr lang="en-IN" sz="1800" b="1" dirty="0">
                <a:effectLst/>
                <a:latin typeface="Times New Roman" panose="02020603050405020304" pitchFamily="18" charset="0"/>
                <a:ea typeface="Aptos" panose="020B0004020202020204" pitchFamily="34" charset="0"/>
              </a:rPr>
              <a:t>AI-Based Natural Language Processing for Document Categorization</a:t>
            </a:r>
            <a:r>
              <a:rPr lang="en-US" dirty="0">
                <a:latin typeface="Times New Roman" panose="02020603050405020304" pitchFamily="18" charset="0"/>
                <a:cs typeface="Times New Roman" panose="02020603050405020304" pitchFamily="18" charset="0"/>
              </a:rPr>
              <a:t>", authored by </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Prof. Arun Agarwal</a:t>
            </a:r>
            <a:r>
              <a:rPr lang="en-US" dirty="0">
                <a:latin typeface="Times New Roman" panose="02020603050405020304" pitchFamily="18" charset="0"/>
                <a:cs typeface="Times New Roman" panose="02020603050405020304" pitchFamily="18" charset="0"/>
              </a:rPr>
              <a:t>(2020), </a:t>
            </a:r>
            <a:r>
              <a:rPr lang="en-IN" sz="1800" dirty="0">
                <a:effectLst/>
                <a:latin typeface="Times New Roman" panose="02020603050405020304" pitchFamily="18" charset="0"/>
                <a:ea typeface="Calibri" panose="020F0502020204030204" pitchFamily="34" charset="0"/>
              </a:rPr>
              <a:t>The article discusses the application of </a:t>
            </a:r>
            <a:r>
              <a:rPr lang="en-IN" sz="1800" b="1" dirty="0">
                <a:effectLst/>
                <a:latin typeface="Times New Roman" panose="02020603050405020304" pitchFamily="18" charset="0"/>
                <a:ea typeface="Calibri" panose="020F0502020204030204" pitchFamily="34" charset="0"/>
              </a:rPr>
              <a:t>Natural Language Processing (NLP)</a:t>
            </a:r>
            <a:r>
              <a:rPr lang="en-IN" sz="1800" dirty="0">
                <a:effectLst/>
                <a:latin typeface="Times New Roman" panose="02020603050405020304" pitchFamily="18" charset="0"/>
                <a:ea typeface="Calibri" panose="020F0502020204030204" pitchFamily="34" charset="0"/>
              </a:rPr>
              <a:t> for </a:t>
            </a:r>
            <a:r>
              <a:rPr lang="en-IN" sz="1800" b="1" dirty="0">
                <a:effectLst/>
                <a:latin typeface="Times New Roman" panose="02020603050405020304" pitchFamily="18" charset="0"/>
                <a:ea typeface="Calibri" panose="020F0502020204030204" pitchFamily="34" charset="0"/>
              </a:rPr>
              <a:t>automating document categorization</a:t>
            </a:r>
            <a:r>
              <a:rPr lang="en-IN" sz="1800" dirty="0">
                <a:effectLst/>
                <a:latin typeface="Times New Roman" panose="02020603050405020304" pitchFamily="18" charset="0"/>
                <a:ea typeface="Calibri" panose="020F0502020204030204" pitchFamily="34" charset="0"/>
              </a:rPr>
              <a:t> in government agencies. It highlights how NLP models can be trained to </a:t>
            </a:r>
            <a:r>
              <a:rPr lang="en-IN" sz="1800" b="1" dirty="0">
                <a:effectLst/>
                <a:latin typeface="Times New Roman" panose="02020603050405020304" pitchFamily="18" charset="0"/>
                <a:ea typeface="Calibri" panose="020F0502020204030204" pitchFamily="34" charset="0"/>
              </a:rPr>
              <a:t>identify key information</a:t>
            </a:r>
            <a:r>
              <a:rPr lang="en-IN" sz="1800" dirty="0">
                <a:effectLst/>
                <a:latin typeface="Times New Roman" panose="02020603050405020304" pitchFamily="18" charset="0"/>
                <a:ea typeface="Calibri" panose="020F0502020204030204" pitchFamily="34" charset="0"/>
              </a:rPr>
              <a:t> from letters, classify them based on urgency or type (e.g., complaints, requests), and route them to the appropriate departments</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The paper titled "</a:t>
            </a:r>
            <a:r>
              <a:rPr lang="en-IN" sz="1800" b="1" dirty="0">
                <a:effectLst/>
                <a:latin typeface="Times New Roman" panose="02020603050405020304" pitchFamily="18" charset="0"/>
                <a:ea typeface="Aptos" panose="020B0004020202020204" pitchFamily="34" charset="0"/>
              </a:rPr>
              <a:t>Optimizing Public Service Delivery through Digital Systems</a:t>
            </a:r>
            <a:r>
              <a:rPr lang="en-US" dirty="0">
                <a:latin typeface="Times New Roman" panose="02020603050405020304" pitchFamily="18" charset="0"/>
                <a:cs typeface="Times New Roman" panose="02020603050405020304" pitchFamily="18" charset="0"/>
              </a:rPr>
              <a:t>" (2020), authored by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Dr.</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Rekha Jain</a:t>
            </a:r>
            <a:r>
              <a:rPr lang="en-US" dirty="0">
                <a:latin typeface="Times New Roman" panose="02020603050405020304" pitchFamily="18"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rPr>
              <a:t>This paper explores the </a:t>
            </a:r>
            <a:r>
              <a:rPr lang="en-IN" sz="1800" b="1" dirty="0">
                <a:effectLst/>
                <a:latin typeface="Times New Roman" panose="02020603050405020304" pitchFamily="18" charset="0"/>
                <a:ea typeface="Calibri" panose="020F0502020204030204" pitchFamily="34" charset="0"/>
              </a:rPr>
              <a:t>role of digital systems</a:t>
            </a:r>
            <a:r>
              <a:rPr lang="en-IN" sz="1800" dirty="0">
                <a:effectLst/>
                <a:latin typeface="Times New Roman" panose="02020603050405020304" pitchFamily="18" charset="0"/>
                <a:ea typeface="Calibri" panose="020F0502020204030204" pitchFamily="34" charset="0"/>
              </a:rPr>
              <a:t> such as </a:t>
            </a:r>
            <a:r>
              <a:rPr lang="en-IN" sz="1800" b="1" dirty="0">
                <a:effectLst/>
                <a:latin typeface="Times New Roman" panose="02020603050405020304" pitchFamily="18" charset="0"/>
                <a:ea typeface="Calibri" panose="020F0502020204030204" pitchFamily="34" charset="0"/>
              </a:rPr>
              <a:t>OCR</a:t>
            </a:r>
            <a:r>
              <a:rPr lang="en-IN" sz="1800" dirty="0">
                <a:effectLst/>
                <a:latin typeface="Times New Roman" panose="02020603050405020304" pitchFamily="18" charset="0"/>
                <a:ea typeface="Calibri" panose="020F0502020204030204" pitchFamily="34" charset="0"/>
              </a:rPr>
              <a:t> and </a:t>
            </a:r>
            <a:r>
              <a:rPr lang="en-IN" sz="1800" b="1" dirty="0">
                <a:effectLst/>
                <a:latin typeface="Times New Roman" panose="02020603050405020304" pitchFamily="18" charset="0"/>
                <a:ea typeface="Calibri" panose="020F0502020204030204" pitchFamily="34" charset="0"/>
              </a:rPr>
              <a:t>NLP</a:t>
            </a:r>
            <a:r>
              <a:rPr lang="en-IN" sz="1800" dirty="0">
                <a:effectLst/>
                <a:latin typeface="Times New Roman" panose="02020603050405020304" pitchFamily="18" charset="0"/>
                <a:ea typeface="Calibri" panose="020F0502020204030204" pitchFamily="34" charset="0"/>
              </a:rPr>
              <a:t> in enhancing public service delivery, particularly in relation to </a:t>
            </a:r>
            <a:r>
              <a:rPr lang="en-IN" sz="1800" b="1" dirty="0">
                <a:effectLst/>
                <a:latin typeface="Times New Roman" panose="02020603050405020304" pitchFamily="18" charset="0"/>
                <a:ea typeface="Calibri" panose="020F0502020204030204" pitchFamily="34" charset="0"/>
              </a:rPr>
              <a:t>grievance redressal</a:t>
            </a:r>
            <a:r>
              <a:rPr lang="en-IN" sz="1800" dirty="0">
                <a:effectLst/>
                <a:latin typeface="Times New Roman" panose="02020603050405020304" pitchFamily="18" charset="0"/>
                <a:ea typeface="Calibri" panose="020F0502020204030204" pitchFamily="34" charset="0"/>
              </a:rPr>
              <a:t>. The authors focus on how automated systems can help manage public complaints, process them efficiently, and ensure timely follow-ups, reducing delays and human errors.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7163" y="1132760"/>
            <a:ext cx="8349674" cy="3693319"/>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7.</a:t>
            </a:r>
            <a:r>
              <a:rPr lang="en-IN" sz="1800" dirty="0">
                <a:effectLst/>
                <a:latin typeface="Times New Roman" panose="02020603050405020304" pitchFamily="18" charset="0"/>
                <a:ea typeface="Calibri" panose="020F0502020204030204" pitchFamily="34" charset="0"/>
              </a:rPr>
              <a:t> </a:t>
            </a:r>
            <a:r>
              <a:rPr lang="en-US" dirty="0">
                <a:latin typeface="Times New Roman" panose="02020603050405020304" pitchFamily="18" charset="0"/>
                <a:cs typeface="Times New Roman" panose="02020603050405020304" pitchFamily="18" charset="0"/>
              </a:rPr>
              <a:t>The paper titled "</a:t>
            </a:r>
            <a:r>
              <a:rPr lang="en-IN" sz="1800" dirty="0">
                <a:effectLst/>
                <a:latin typeface="Times New Roman" panose="02020603050405020304" pitchFamily="18" charset="0"/>
                <a:ea typeface="Calibri" panose="020F0502020204030204" pitchFamily="34" charset="0"/>
              </a:rPr>
              <a:t> E-Governance in Municipal Corporations: Lessons from India </a:t>
            </a:r>
            <a:r>
              <a:rPr lang="en-US" dirty="0">
                <a:latin typeface="Times New Roman" panose="02020603050405020304" pitchFamily="18" charset="0"/>
                <a:cs typeface="Times New Roman" panose="02020603050405020304" pitchFamily="18" charset="0"/>
              </a:rPr>
              <a:t>" (2019), authored by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Dr.</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Rajendra Pratap Gupta</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rPr>
              <a:t>This paper explores the use of </a:t>
            </a:r>
            <a:r>
              <a:rPr lang="en-IN" sz="1800" b="1" dirty="0">
                <a:effectLst/>
                <a:latin typeface="Times New Roman" panose="02020603050405020304" pitchFamily="18" charset="0"/>
                <a:ea typeface="Calibri" panose="020F0502020204030204" pitchFamily="34" charset="0"/>
              </a:rPr>
              <a:t>machine learning (ML)</a:t>
            </a:r>
            <a:r>
              <a:rPr lang="en-IN" sz="1800" dirty="0">
                <a:effectLst/>
                <a:latin typeface="Times New Roman" panose="02020603050405020304" pitchFamily="18" charset="0"/>
                <a:ea typeface="Calibri" panose="020F0502020204030204" pitchFamily="34" charset="0"/>
              </a:rPr>
              <a:t> to automate </a:t>
            </a:r>
            <a:r>
              <a:rPr lang="en-IN" sz="1800" b="1" dirty="0">
                <a:effectLst/>
                <a:latin typeface="Times New Roman" panose="02020603050405020304" pitchFamily="18" charset="0"/>
                <a:ea typeface="Calibri" panose="020F0502020204030204" pitchFamily="34" charset="0"/>
              </a:rPr>
              <a:t>government communication</a:t>
            </a:r>
            <a:r>
              <a:rPr lang="en-IN" sz="1800" dirty="0">
                <a:effectLst/>
                <a:latin typeface="Times New Roman" panose="02020603050405020304" pitchFamily="18" charset="0"/>
                <a:ea typeface="Calibri" panose="020F0502020204030204" pitchFamily="34" charset="0"/>
              </a:rPr>
              <a:t> processes, such as prioritizing letters based on content and urgency. The authors discuss various </a:t>
            </a:r>
            <a:r>
              <a:rPr lang="en-IN" sz="1800" b="1" dirty="0">
                <a:effectLst/>
                <a:latin typeface="Times New Roman" panose="02020603050405020304" pitchFamily="18" charset="0"/>
                <a:ea typeface="Calibri" panose="020F0502020204030204" pitchFamily="34" charset="0"/>
              </a:rPr>
              <a:t>ML algorithms</a:t>
            </a:r>
            <a:r>
              <a:rPr lang="en-IN" sz="1800" dirty="0">
                <a:effectLst/>
                <a:latin typeface="Times New Roman" panose="02020603050405020304" pitchFamily="18" charset="0"/>
                <a:ea typeface="Calibri" panose="020F0502020204030204" pitchFamily="34" charset="0"/>
              </a:rPr>
              <a:t> that can </a:t>
            </a:r>
            <a:r>
              <a:rPr lang="en-IN" sz="1800" dirty="0" err="1">
                <a:effectLst/>
                <a:latin typeface="Times New Roman" panose="02020603050405020304" pitchFamily="18" charset="0"/>
                <a:ea typeface="Calibri" panose="020F0502020204030204" pitchFamily="34" charset="0"/>
              </a:rPr>
              <a:t>analyze</a:t>
            </a:r>
            <a:r>
              <a:rPr lang="en-IN" sz="1800" dirty="0">
                <a:effectLst/>
                <a:latin typeface="Times New Roman" panose="02020603050405020304" pitchFamily="18" charset="0"/>
                <a:ea typeface="Calibri" panose="020F0502020204030204" pitchFamily="34" charset="0"/>
              </a:rPr>
              <a:t> communication content and make decisions on how to route or respond to requests</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8. </a:t>
            </a:r>
            <a:r>
              <a:rPr lang="en-US" dirty="0">
                <a:latin typeface="Times New Roman" panose="02020603050405020304" pitchFamily="18" charset="0"/>
                <a:cs typeface="Times New Roman" panose="02020603050405020304" pitchFamily="18" charset="0"/>
              </a:rPr>
              <a:t>The paper titled "</a:t>
            </a:r>
            <a:r>
              <a:rPr lang="en-IN" sz="1800" dirty="0">
                <a:effectLst/>
                <a:latin typeface="Times New Roman" panose="02020603050405020304" pitchFamily="18" charset="0"/>
                <a:ea typeface="Calibri" panose="020F0502020204030204" pitchFamily="34" charset="0"/>
              </a:rPr>
              <a:t> Automating Government Communications with Machine Learning </a:t>
            </a:r>
            <a:r>
              <a:rPr lang="en-IN" sz="1800" dirty="0">
                <a:effectLst/>
                <a:latin typeface="Times New Roman" panose="02020603050405020304" pitchFamily="18" charset="0"/>
                <a:ea typeface="Aptos" panose="020B0004020202020204" pitchFamily="34" charset="0"/>
              </a:rPr>
              <a:t>s</a:t>
            </a:r>
            <a:r>
              <a:rPr lang="en-US" dirty="0">
                <a:latin typeface="Times New Roman" panose="02020603050405020304" pitchFamily="18" charset="0"/>
                <a:cs typeface="Times New Roman" panose="02020603050405020304" pitchFamily="18" charset="0"/>
              </a:rPr>
              <a:t>" (2018), authored by </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Dr.</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Prof. Arun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Agarwal</a:t>
            </a:r>
            <a:r>
              <a:rPr lang="en-IN" sz="1800" kern="100" dirty="0" err="1">
                <a:effectLst/>
                <a:latin typeface="Times New Roman" panose="02020603050405020304" pitchFamily="18" charset="0"/>
                <a:ea typeface="Aptos" panose="020B0004020202020204" pitchFamily="34" charset="0"/>
                <a:cs typeface="Times New Roman" panose="02020603050405020304" pitchFamily="18" charset="0"/>
              </a:rPr>
              <a:t>,</a:t>
            </a:r>
            <a:r>
              <a:rPr lang="en-IN" sz="1800" dirty="0" err="1">
                <a:effectLst/>
                <a:latin typeface="Times New Roman" panose="02020603050405020304" pitchFamily="18" charset="0"/>
                <a:ea typeface="Calibri" panose="020F0502020204030204" pitchFamily="34" charset="0"/>
              </a:rPr>
              <a:t>The</a:t>
            </a:r>
            <a:r>
              <a:rPr lang="en-IN" sz="1800" dirty="0">
                <a:effectLst/>
                <a:latin typeface="Times New Roman" panose="02020603050405020304" pitchFamily="18" charset="0"/>
                <a:ea typeface="Calibri" panose="020F0502020204030204" pitchFamily="34" charset="0"/>
              </a:rPr>
              <a:t> article provides an overview of </a:t>
            </a:r>
            <a:r>
              <a:rPr lang="en-IN" sz="1800" b="1" dirty="0">
                <a:effectLst/>
                <a:latin typeface="Times New Roman" panose="02020603050405020304" pitchFamily="18" charset="0"/>
                <a:ea typeface="Calibri" panose="020F0502020204030204" pitchFamily="34" charset="0"/>
              </a:rPr>
              <a:t>e-governance initiatives</a:t>
            </a:r>
            <a:r>
              <a:rPr lang="en-IN" sz="1800" dirty="0">
                <a:effectLst/>
                <a:latin typeface="Times New Roman" panose="02020603050405020304" pitchFamily="18" charset="0"/>
                <a:ea typeface="Calibri" panose="020F0502020204030204" pitchFamily="34" charset="0"/>
              </a:rPr>
              <a:t> in Indian municipal corporations, focusing on how </a:t>
            </a:r>
            <a:r>
              <a:rPr lang="en-IN" sz="1800" b="1" dirty="0">
                <a:effectLst/>
                <a:latin typeface="Times New Roman" panose="02020603050405020304" pitchFamily="18" charset="0"/>
                <a:ea typeface="Calibri" panose="020F0502020204030204" pitchFamily="34" charset="0"/>
              </a:rPr>
              <a:t>digitization</a:t>
            </a:r>
            <a:r>
              <a:rPr lang="en-IN" sz="1800" dirty="0">
                <a:effectLst/>
                <a:latin typeface="Times New Roman" panose="02020603050405020304" pitchFamily="18" charset="0"/>
                <a:ea typeface="Calibri" panose="020F0502020204030204" pitchFamily="34" charset="0"/>
              </a:rPr>
              <a:t> has improved operational </a:t>
            </a:r>
            <a:r>
              <a:rPr lang="en-IN" sz="1800" dirty="0" err="1">
                <a:effectLst/>
                <a:latin typeface="Times New Roman" panose="02020603050405020304" pitchFamily="18" charset="0"/>
                <a:ea typeface="Calibri" panose="020F0502020204030204" pitchFamily="34" charset="0"/>
              </a:rPr>
              <a:t>efficiency.It</a:t>
            </a:r>
            <a:r>
              <a:rPr lang="en-IN" sz="1800" dirty="0">
                <a:effectLst/>
                <a:latin typeface="Times New Roman" panose="02020603050405020304" pitchFamily="18" charset="0"/>
                <a:ea typeface="Calibri" panose="020F0502020204030204" pitchFamily="34" charset="0"/>
              </a:rPr>
              <a:t> discusses the </a:t>
            </a:r>
            <a:r>
              <a:rPr lang="en-IN" sz="1800" b="1" dirty="0">
                <a:effectLst/>
                <a:latin typeface="Times New Roman" panose="02020603050405020304" pitchFamily="18" charset="0"/>
                <a:ea typeface="Calibri" panose="020F0502020204030204" pitchFamily="34" charset="0"/>
              </a:rPr>
              <a:t>automation of administrative tasks</a:t>
            </a:r>
            <a:r>
              <a:rPr lang="en-IN" sz="1800" dirty="0">
                <a:effectLst/>
                <a:latin typeface="Times New Roman" panose="02020603050405020304" pitchFamily="18" charset="0"/>
                <a:ea typeface="Calibri" panose="020F0502020204030204" pitchFamily="34" charset="0"/>
              </a:rPr>
              <a:t>, such as document processing, that were previously time-consuming and prone to errors.</a:t>
            </a:r>
            <a:endParaRPr lang="en-IN" dirty="0">
              <a:latin typeface="Times New Roman" panose="02020603050405020304" pitchFamily="18" charset="0"/>
              <a:cs typeface="Times New Roman" panose="02020603050405020304" pitchFamily="18" charset="0"/>
            </a:endParaRPr>
          </a:p>
        </p:txBody>
      </p:sp>
      <p:grpSp>
        <p:nvGrpSpPr>
          <p:cNvPr id="2" name="Group 1"/>
          <p:cNvGrpSpPr/>
          <p:nvPr/>
        </p:nvGrpSpPr>
        <p:grpSpPr>
          <a:xfrm>
            <a:off x="342900" y="71120"/>
            <a:ext cx="8719931" cy="1003300"/>
            <a:chOff x="342900" y="71120"/>
            <a:chExt cx="8719931" cy="1003300"/>
          </a:xfrm>
        </p:grpSpPr>
        <p:pic>
          <p:nvPicPr>
            <p:cNvPr id="4"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p:nvPr/>
          </p:nvPicPr>
          <p:blipFill>
            <a:blip r:embed="rId4"/>
            <a:stretch>
              <a:fillRect/>
            </a:stretch>
          </p:blipFill>
          <p:spPr>
            <a:xfrm>
              <a:off x="342900" y="160338"/>
              <a:ext cx="990600" cy="494982"/>
            </a:xfrm>
            <a:prstGeom prst="rect">
              <a:avLst/>
            </a:prstGeom>
          </p:spPr>
        </p:pic>
        <p:sp>
          <p:nvSpPr>
            <p:cNvPr id="6" name="TextBox 5"/>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sz="4000" dirty="0">
                <a:latin typeface="Times New Roman" panose="02020603050405020304" pitchFamily="18" charset="0"/>
                <a:cs typeface="Times New Roman" panose="02020603050405020304" pitchFamily="18" charset="0"/>
              </a:rPr>
            </a:br>
            <a:r>
              <a:rPr sz="4890" b="1" dirty="0">
                <a:latin typeface="Times New Roman" panose="02020603050405020304" pitchFamily="18" charset="0"/>
                <a:cs typeface="Times New Roman" panose="02020603050405020304" pitchFamily="18" charset="0"/>
              </a:rPr>
              <a:t>Problem Identification</a:t>
            </a:r>
          </a:p>
        </p:txBody>
      </p:sp>
      <p:sp>
        <p:nvSpPr>
          <p:cNvPr id="3" name="Content Placeholder 2"/>
          <p:cNvSpPr>
            <a:spLocks noGrp="1"/>
          </p:cNvSpPr>
          <p:nvPr>
            <p:ph idx="1"/>
          </p:nvPr>
        </p:nvSpPr>
        <p:spPr>
          <a:xfrm>
            <a:off x="457200" y="1502982"/>
            <a:ext cx="8229600" cy="4708525"/>
          </a:xfrm>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1. Scalability and performance Issues</a:t>
            </a:r>
            <a:r>
              <a:rPr lang="en-US" sz="1800" dirty="0">
                <a:latin typeface="Times New Roman" panose="02020603050405020304" pitchFamily="18" charset="0"/>
                <a:cs typeface="Times New Roman" panose="02020603050405020304" pitchFamily="18" charset="0"/>
              </a:rPr>
              <a:t>:</a:t>
            </a:r>
          </a:p>
          <a:p>
            <a:pPr marL="0" indent="0" algn="just">
              <a:buNone/>
            </a:pPr>
            <a:r>
              <a:rPr lang="en-US" sz="180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Basic search functionality without advanced filters or metadata tagging.</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2. Limited Search and Filtering capabilities</a:t>
            </a: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Outdated or cluttered interfaces hinder navigation and make the system 	difficult 	  to use.</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3. </a:t>
            </a:r>
            <a:r>
              <a:rPr lang="en-GB" sz="1800" b="1" dirty="0">
                <a:latin typeface="Times New Roman" panose="02020603050405020304" pitchFamily="18" charset="0"/>
                <a:cs typeface="Times New Roman" panose="02020603050405020304" pitchFamily="18" charset="0"/>
              </a:rPr>
              <a:t>Lack of Integration with Other Systems:</a:t>
            </a:r>
          </a:p>
          <a:p>
            <a:pPr marL="0" indent="0" algn="just">
              <a:buNone/>
            </a:pPr>
            <a:r>
              <a:rPr lang="en-GB" sz="1800" b="1"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The system slows down or crashes under high workloads or large data 	volumes.</a:t>
            </a: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4. </a:t>
            </a:r>
            <a:r>
              <a:rPr lang="en-IN" sz="1800" b="1" dirty="0">
                <a:latin typeface="Times New Roman" panose="02020603050405020304" pitchFamily="18" charset="0"/>
                <a:cs typeface="Times New Roman" panose="02020603050405020304" pitchFamily="18" charset="0"/>
              </a:rPr>
              <a:t>Delayed or Irrelevant Notifications:</a:t>
            </a:r>
          </a:p>
          <a:p>
            <a:pPr marL="0" indent="0" algn="just">
              <a:buNone/>
            </a:pPr>
            <a:r>
              <a:rPr lang="en-US" sz="180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Notifications are not real-time, customizable, or delivered across multiple 	channels.</a:t>
            </a:r>
          </a:p>
          <a:p>
            <a:pPr marL="0" indent="0" algn="just">
              <a:buNone/>
            </a:pPr>
            <a:r>
              <a:rPr lang="en-US" sz="1800" b="1" dirty="0">
                <a:latin typeface="Times New Roman" panose="02020603050405020304" pitchFamily="18" charset="0"/>
                <a:cs typeface="Times New Roman" panose="02020603050405020304" pitchFamily="18" charset="0"/>
              </a:rPr>
              <a:t>5. Inadequate Security Measure:</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LMS is often isolate, with limited ability to integrate with email servers,  	document management tools, or workflow automation problem.</a:t>
            </a:r>
            <a:endParaRPr lang="en-US" sz="1800" b="1"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342900" y="71120"/>
            <a:ext cx="8719931" cy="1003300"/>
            <a:chOff x="342900" y="71120"/>
            <a:chExt cx="8719931" cy="1003300"/>
          </a:xfrm>
        </p:grpSpPr>
        <p:pic>
          <p:nvPicPr>
            <p:cNvPr id="6"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5160"/>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6814"/>
            <a:ext cx="8229600" cy="1125415"/>
          </a:xfrm>
        </p:spPr>
        <p:txBody>
          <a:bodyPr>
            <a:normAutofit fontScale="90000"/>
          </a:bodyPr>
          <a:lstStyle/>
          <a:p>
            <a:br>
              <a:rPr lang="en-IN" sz="4000" dirty="0">
                <a:latin typeface="Times New Roman" panose="02020603050405020304" pitchFamily="18" charset="0"/>
                <a:cs typeface="Times New Roman" panose="02020603050405020304" pitchFamily="18" charset="0"/>
              </a:rPr>
            </a:br>
            <a:r>
              <a:rPr sz="4900" b="1"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457200" y="1272899"/>
            <a:ext cx="8229600" cy="5732585"/>
          </a:xfrm>
        </p:spPr>
        <p:txBody>
          <a:bodyPr>
            <a:noAutofit/>
          </a:bodyPr>
          <a:lstStyle/>
          <a:p>
            <a:pPr algn="just">
              <a:buAutoNum type="arabicPeriod"/>
            </a:pPr>
            <a:r>
              <a:rPr lang="en-US" sz="1600" b="1" dirty="0">
                <a:latin typeface="Times New Roman" panose="02020603050405020304" pitchFamily="18" charset="0"/>
                <a:cs typeface="Times New Roman" panose="02020603050405020304" pitchFamily="18" charset="0"/>
              </a:rPr>
              <a:t>Centralized Repository</a:t>
            </a:r>
          </a:p>
          <a:p>
            <a:pPr algn="just"/>
            <a:r>
              <a:rPr lang="en-US" sz="1600" dirty="0">
                <a:latin typeface="Times New Roman" panose="02020603050405020304" pitchFamily="18" charset="0"/>
                <a:cs typeface="Times New Roman" panose="02020603050405020304" pitchFamily="18" charset="0"/>
              </a:rPr>
              <a:t>A secured web-based database where  all letters (incoming and outgoing) are stored , accessible from anywhere. </a:t>
            </a:r>
          </a:p>
          <a:p>
            <a:pPr marL="0" indent="0" algn="just">
              <a:buNone/>
            </a:pPr>
            <a:r>
              <a:rPr lang="en-US" sz="1600" b="1" dirty="0">
                <a:latin typeface="Times New Roman" panose="02020603050405020304" pitchFamily="18" charset="0"/>
                <a:cs typeface="Times New Roman" panose="02020603050405020304" pitchFamily="18" charset="0"/>
              </a:rPr>
              <a:t>2.  Dynamic Dashboards</a:t>
            </a:r>
            <a:r>
              <a:rPr lang="en-US" sz="1600" dirty="0">
                <a:latin typeface="Times New Roman" panose="02020603050405020304" pitchFamily="18" charset="0"/>
                <a:cs typeface="Times New Roman" panose="02020603050405020304" pitchFamily="18" charset="0"/>
              </a:rPr>
              <a:t>:</a:t>
            </a:r>
          </a:p>
          <a:p>
            <a:pPr algn="just"/>
            <a:r>
              <a:rPr lang="en-US" sz="1600" dirty="0">
                <a:latin typeface="Times New Roman" panose="02020603050405020304" pitchFamily="18" charset="0"/>
                <a:cs typeface="Times New Roman" panose="02020603050405020304" pitchFamily="18" charset="0"/>
              </a:rPr>
              <a:t>A user friendly dashboard to view real time statistics, such as  the total  number of letters received, sent, or pending. </a:t>
            </a:r>
          </a:p>
          <a:p>
            <a:pPr marL="0" indent="0" algn="just">
              <a:buNone/>
            </a:pPr>
            <a:r>
              <a:rPr lang="en-US" sz="1600" dirty="0">
                <a:latin typeface="Times New Roman" panose="02020603050405020304" pitchFamily="18" charset="0"/>
                <a:cs typeface="Times New Roman" panose="02020603050405020304" pitchFamily="18" charset="0"/>
              </a:rPr>
              <a:t>3. </a:t>
            </a:r>
            <a:r>
              <a:rPr lang="en-US" sz="1600" b="1" dirty="0">
                <a:latin typeface="Times New Roman" panose="02020603050405020304" pitchFamily="18" charset="0"/>
                <a:cs typeface="Times New Roman" panose="02020603050405020304" pitchFamily="18" charset="0"/>
              </a:rPr>
              <a:t> Search and Filter Options</a:t>
            </a:r>
            <a:r>
              <a:rPr lang="en-US" sz="16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Advanced search functionality with filters for date department, sender, subject and letter type, </a:t>
            </a:r>
            <a:r>
              <a:rPr lang="en-US" sz="1600" dirty="0" err="1">
                <a:latin typeface="Times New Roman" panose="02020603050405020304" pitchFamily="18" charset="0"/>
                <a:cs typeface="Times New Roman" panose="02020603050405020304" pitchFamily="18" charset="0"/>
              </a:rPr>
              <a:t>etc</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4. </a:t>
            </a:r>
            <a:r>
              <a:rPr lang="en-US" sz="1600" b="1" dirty="0">
                <a:latin typeface="Times New Roman" panose="02020603050405020304" pitchFamily="18" charset="0"/>
                <a:cs typeface="Times New Roman" panose="02020603050405020304" pitchFamily="18" charset="0"/>
              </a:rPr>
              <a:t>Status tracking:</a:t>
            </a:r>
          </a:p>
          <a:p>
            <a:pPr algn="just"/>
            <a:r>
              <a:rPr lang="en-US" sz="1600" dirty="0">
                <a:latin typeface="Times New Roman" panose="02020603050405020304" pitchFamily="18" charset="0"/>
                <a:cs typeface="Times New Roman" panose="02020603050405020304" pitchFamily="18" charset="0"/>
              </a:rPr>
              <a:t>Track the status of letters, such as “Received”, Under Review”, “Responded,” or “closed”.</a:t>
            </a:r>
          </a:p>
          <a:p>
            <a:pPr marL="0" indent="0" algn="just">
              <a:buNone/>
            </a:pPr>
            <a:r>
              <a:rPr lang="en-US" sz="1600" dirty="0">
                <a:latin typeface="Times New Roman" panose="02020603050405020304" pitchFamily="18" charset="0"/>
                <a:cs typeface="Times New Roman" panose="02020603050405020304" pitchFamily="18" charset="0"/>
              </a:rPr>
              <a:t>5. </a:t>
            </a:r>
            <a:r>
              <a:rPr lang="en-US" sz="1600" b="1" dirty="0">
                <a:latin typeface="Times New Roman" panose="02020603050405020304" pitchFamily="18" charset="0"/>
                <a:cs typeface="Times New Roman" panose="02020603050405020304" pitchFamily="18" charset="0"/>
              </a:rPr>
              <a:t>File Attachments:</a:t>
            </a:r>
          </a:p>
          <a:p>
            <a:pPr algn="just"/>
            <a:r>
              <a:rPr lang="en-US" sz="1600" dirty="0">
                <a:latin typeface="Times New Roman" panose="02020603050405020304" pitchFamily="18" charset="0"/>
                <a:cs typeface="Times New Roman" panose="02020603050405020304" pitchFamily="18" charset="0"/>
              </a:rPr>
              <a:t>Upload and manage files( e.g., Pdf’s , images) associated with each letter.</a:t>
            </a:r>
          </a:p>
          <a:p>
            <a:pPr marL="0" indent="0" algn="just">
              <a:buNone/>
            </a:pPr>
            <a:r>
              <a:rPr lang="en-US" sz="1600" dirty="0">
                <a:latin typeface="Times New Roman" panose="02020603050405020304" pitchFamily="18" charset="0"/>
                <a:cs typeface="Times New Roman" panose="02020603050405020304" pitchFamily="18" charset="0"/>
              </a:rPr>
              <a:t>6. </a:t>
            </a:r>
            <a:r>
              <a:rPr lang="en-US" sz="1600" b="1" dirty="0">
                <a:latin typeface="Times New Roman" panose="02020603050405020304" pitchFamily="18" charset="0"/>
                <a:cs typeface="Times New Roman" panose="02020603050405020304" pitchFamily="18" charset="0"/>
              </a:rPr>
              <a:t>Role Based Access Control:</a:t>
            </a:r>
          </a:p>
          <a:p>
            <a:pPr algn="just"/>
            <a:r>
              <a:rPr lang="en-US" sz="1600" dirty="0">
                <a:latin typeface="Times New Roman" panose="02020603050405020304" pitchFamily="18" charset="0"/>
                <a:cs typeface="Times New Roman" panose="02020603050405020304" pitchFamily="18" charset="0"/>
              </a:rPr>
              <a:t>Define roles such as Admin, Manager and staff with permissions tailored to each role.</a:t>
            </a:r>
          </a:p>
          <a:p>
            <a:pPr marL="0" indent="0" algn="just">
              <a:buNone/>
            </a:pPr>
            <a:r>
              <a:rPr lang="en-US" sz="1600" dirty="0">
                <a:latin typeface="Times New Roman" panose="02020603050405020304" pitchFamily="18" charset="0"/>
                <a:cs typeface="Times New Roman" panose="02020603050405020304" pitchFamily="18" charset="0"/>
              </a:rPr>
              <a:t>7. </a:t>
            </a:r>
            <a:r>
              <a:rPr lang="en-US" sz="1600" b="1" dirty="0">
                <a:latin typeface="Times New Roman" panose="02020603050405020304" pitchFamily="18" charset="0"/>
                <a:cs typeface="Times New Roman" panose="02020603050405020304" pitchFamily="18" charset="0"/>
              </a:rPr>
              <a:t>Notification and Reminders:</a:t>
            </a:r>
          </a:p>
          <a:p>
            <a:pPr algn="just"/>
            <a:r>
              <a:rPr lang="en-US" sz="1600" dirty="0">
                <a:latin typeface="Times New Roman" panose="02020603050405020304" pitchFamily="18" charset="0"/>
                <a:cs typeface="Times New Roman" panose="02020603050405020304" pitchFamily="18" charset="0"/>
              </a:rPr>
              <a:t>Automated email or SMS notification for new letters, status updates or pending tasks,</a:t>
            </a:r>
          </a:p>
          <a:p>
            <a:pPr marL="0" indent="0" algn="just">
              <a:buNone/>
            </a:pPr>
            <a:r>
              <a:rPr lang="en-US" sz="1600" dirty="0">
                <a:latin typeface="Times New Roman" panose="02020603050405020304" pitchFamily="18" charset="0"/>
                <a:cs typeface="Times New Roman" panose="02020603050405020304" pitchFamily="18" charset="0"/>
              </a:rPr>
              <a:t>8. </a:t>
            </a:r>
            <a:r>
              <a:rPr lang="en-US" sz="1600" b="1" dirty="0">
                <a:latin typeface="Times New Roman" panose="02020603050405020304" pitchFamily="18" charset="0"/>
                <a:cs typeface="Times New Roman" panose="02020603050405020304" pitchFamily="18" charset="0"/>
              </a:rPr>
              <a:t>Audit log:</a:t>
            </a:r>
          </a:p>
          <a:p>
            <a:pPr algn="just"/>
            <a:r>
              <a:rPr lang="en-US" sz="1600" dirty="0">
                <a:latin typeface="Times New Roman" panose="02020603050405020304" pitchFamily="18" charset="0"/>
                <a:cs typeface="Times New Roman" panose="02020603050405020304" pitchFamily="18" charset="0"/>
              </a:rPr>
              <a:t>A complete log of user activates to ensure accountability and transparency.</a:t>
            </a:r>
          </a:p>
          <a:p>
            <a:pPr marL="0" indent="0">
              <a:buNone/>
            </a:pPr>
            <a:endParaRPr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grpSp>
        <p:nvGrpSpPr>
          <p:cNvPr id="10" name="Group 9"/>
          <p:cNvGrpSpPr/>
          <p:nvPr/>
        </p:nvGrpSpPr>
        <p:grpSpPr>
          <a:xfrm>
            <a:off x="342900" y="71120"/>
            <a:ext cx="8719931" cy="1003300"/>
            <a:chOff x="342900" y="71120"/>
            <a:chExt cx="8719931" cy="1003300"/>
          </a:xfrm>
        </p:grpSpPr>
        <p:pic>
          <p:nvPicPr>
            <p:cNvPr id="11"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p:nvPr/>
          </p:nvPicPr>
          <p:blipFill>
            <a:blip r:embed="rId5"/>
            <a:stretch>
              <a:fillRect/>
            </a:stretch>
          </p:blipFill>
          <p:spPr>
            <a:xfrm>
              <a:off x="342900" y="160338"/>
              <a:ext cx="990600" cy="494982"/>
            </a:xfrm>
            <a:prstGeom prst="rect">
              <a:avLst/>
            </a:prstGeom>
          </p:spPr>
        </p:pic>
        <p:sp>
          <p:nvSpPr>
            <p:cNvPr id="13" name="TextBox 12"/>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2869"/>
            <a:ext cx="8229600" cy="1125415"/>
          </a:xfrm>
        </p:spPr>
        <p:txBody>
          <a:bodyPr>
            <a:normAutofit fontScale="90000"/>
          </a:bodyPr>
          <a:lstStyle/>
          <a:p>
            <a:br>
              <a:rPr lang="en-IN" sz="4890" b="1" dirty="0">
                <a:latin typeface="Times New Roman" panose="02020603050405020304" pitchFamily="18" charset="0"/>
                <a:cs typeface="Times New Roman" panose="02020603050405020304" pitchFamily="18" charset="0"/>
              </a:rPr>
            </a:br>
            <a:r>
              <a:rPr lang="en-IN" sz="4890" b="1" dirty="0">
                <a:latin typeface="Times New Roman" panose="02020603050405020304" pitchFamily="18" charset="0"/>
                <a:cs typeface="Times New Roman" panose="02020603050405020304" pitchFamily="18" charset="0"/>
              </a:rPr>
              <a:t>Requirement Analysis</a:t>
            </a:r>
            <a:endParaRPr sz="489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6725" y="1774190"/>
            <a:ext cx="8229600" cy="4073525"/>
          </a:xfrm>
        </p:spPr>
        <p:txBody>
          <a:bodyPr>
            <a:normAutofit/>
          </a:bodyPr>
          <a:lstStyle/>
          <a:p>
            <a:pPr algn="l">
              <a:spcAft>
                <a:spcPts val="300"/>
              </a:spcAft>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Functional Requirements:</a:t>
            </a:r>
            <a:endParaRPr lang="en-US" sz="18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Centralized repository for storing and managing letters.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Advanced search and filtering options.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Real-time status tracking and notifications.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Role-based access control for secure operations.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Audit logs for accountability.</a:t>
            </a:r>
          </a:p>
          <a:p>
            <a:pPr algn="l">
              <a:spcBef>
                <a:spcPts val="300"/>
              </a:spcBef>
              <a:spcAft>
                <a:spcPts val="300"/>
              </a:spcAft>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Non-Functional Requirements:</a:t>
            </a:r>
            <a:endParaRPr lang="en-US" sz="18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High scalability to handle large volumes of letters.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Secure data transmission and storage (SSL encryption).</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User-friendly interface for easy adoption.</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Compatibility with multiple devices and platforms.</a:t>
            </a:r>
          </a:p>
          <a:p>
            <a:pPr marL="0" indent="0">
              <a:buNone/>
            </a:pPr>
            <a:endParaRPr lang="en-US" sz="1800" b="0" i="0" dirty="0">
              <a:effectLst/>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8548"/>
            <a:ext cx="7886700" cy="702676"/>
          </a:xfrm>
        </p:spPr>
        <p:txBody>
          <a:bodyPr>
            <a:noAutofit/>
          </a:bodyPr>
          <a:lstStyle/>
          <a:p>
            <a:pPr algn="ctr"/>
            <a:r>
              <a:rPr lang="en-US" b="1" dirty="0">
                <a:latin typeface="Times New Roman" panose="02020603050405020304" pitchFamily="18" charset="0"/>
                <a:cs typeface="Times New Roman" panose="02020603050405020304" pitchFamily="18" charset="0"/>
              </a:rPr>
              <a:t>Module Description </a:t>
            </a:r>
          </a:p>
        </p:txBody>
      </p:sp>
      <p:sp>
        <p:nvSpPr>
          <p:cNvPr id="3" name="Content Placeholder 2"/>
          <p:cNvSpPr>
            <a:spLocks noGrp="1"/>
          </p:cNvSpPr>
          <p:nvPr>
            <p:ph idx="1"/>
          </p:nvPr>
        </p:nvSpPr>
        <p:spPr>
          <a:xfrm>
            <a:off x="628650" y="1997765"/>
            <a:ext cx="7886700" cy="3585542"/>
          </a:xfrm>
        </p:spPr>
        <p:txBody>
          <a:bodyPr>
            <a:noAutofit/>
          </a:bodyPr>
          <a:lstStyle/>
          <a:p>
            <a:pPr>
              <a:lnSpc>
                <a:spcPct val="100000"/>
              </a:lnSpc>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User Registration and Authentication: </a:t>
            </a:r>
            <a:endParaRPr lang="en-US" altLang="en-US" sz="1800" dirty="0">
              <a:latin typeface="Times New Roman" panose="02020603050405020304" pitchFamily="18" charset="0"/>
              <a:cs typeface="Times New Roman" panose="02020603050405020304" pitchFamily="18" charset="0"/>
            </a:endParaRPr>
          </a:p>
          <a:p>
            <a:pPr>
              <a:lnSpc>
                <a:spcPct val="100000"/>
              </a:lnSpc>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Users, including administrators, employees, and external stakeholders, register on the system with unique identities. Authentication is handled through secure login credentials, multi-factor authentication (MFA), or blockchain-based digital signatures to prevent unauthorized access and ensure data privacy.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Letter Scanning and Digitization: </a:t>
            </a:r>
            <a:endParaRPr lang="en-US" altLang="en-US" sz="1800" dirty="0">
              <a:latin typeface="Times New Roman" panose="02020603050405020304" pitchFamily="18" charset="0"/>
              <a:cs typeface="Times New Roman" panose="02020603050405020304" pitchFamily="18" charset="0"/>
            </a:endParaRPr>
          </a:p>
          <a:p>
            <a:pPr>
              <a:lnSpc>
                <a:spcPct val="100000"/>
              </a:lnSpc>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The system utilizes OCR (Optical Character Recognition) to scan physical letters, converting them into machine-readable text. This allows for efficient document handling, indexing, and searching. AI-based image processing is also employed to enhance clarity and remove noise from scanned documents. </a:t>
            </a:r>
          </a:p>
          <a:p>
            <a:pPr>
              <a:lnSpc>
                <a:spcPct val="100000"/>
              </a:lnSpc>
              <a:buNone/>
            </a:pPr>
            <a:endParaRPr lang="en-US" altLang="en-US" sz="1800"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2765" y="1058545"/>
            <a:ext cx="7886700" cy="4258945"/>
          </a:xfrm>
        </p:spPr>
        <p:txBody>
          <a:bodyPr>
            <a:noAutofit/>
          </a:bodyPr>
          <a:lstStyle/>
          <a:p>
            <a:pPr>
              <a:lnSpc>
                <a:spcPct val="100000"/>
              </a:lnSpc>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Content Classification and Categorization: </a:t>
            </a:r>
            <a:endParaRPr lang="en-US" altLang="en-US" sz="1800" dirty="0">
              <a:latin typeface="Times New Roman" panose="02020603050405020304" pitchFamily="18" charset="0"/>
              <a:cs typeface="Times New Roman" panose="02020603050405020304" pitchFamily="18" charset="0"/>
            </a:endParaRPr>
          </a:p>
          <a:p>
            <a:pPr>
              <a:lnSpc>
                <a:spcPct val="100000"/>
              </a:lnSpc>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Natural Language Processing (NLP) algorithms analyse and categorize letters based on their content, sender, and priority. Documents are automatically classified into predefined categories, such as official correspondence, legal notices, financial documents, and general inquiries, streamlining workflow and reducing manual sorting efforts.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Automated Routing and Workflow Management: </a:t>
            </a:r>
            <a:endParaRPr lang="en-US" altLang="en-US" sz="1800" dirty="0">
              <a:latin typeface="Times New Roman" panose="02020603050405020304" pitchFamily="18" charset="0"/>
              <a:cs typeface="Times New Roman" panose="02020603050405020304" pitchFamily="18" charset="0"/>
            </a:endParaRPr>
          </a:p>
          <a:p>
            <a:pPr>
              <a:lnSpc>
                <a:spcPct val="100000"/>
              </a:lnSpc>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The system assigns letters to the appropriate departments or personnel based on predefined rules or machine learning recommendations. Smart workflows ensure that high-priority letters are processed first, reducing response time and improving efficiency.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Blockchain-Based Data Storage: </a:t>
            </a:r>
            <a:endParaRPr lang="en-US" altLang="en-US" sz="1800" dirty="0">
              <a:latin typeface="Times New Roman" panose="02020603050405020304" pitchFamily="18" charset="0"/>
              <a:cs typeface="Times New Roman" panose="02020603050405020304" pitchFamily="18" charset="0"/>
            </a:endParaRPr>
          </a:p>
          <a:p>
            <a:pPr>
              <a:lnSpc>
                <a:spcPct val="100000"/>
              </a:lnSpc>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Letter records, processing logs, and access histories are securely stored on a blockchain ledger, ensuring tamper-proof documentation, auditability, and data integrity. This feature is particularly useful for government, legal, and financial organizations that require verifiable communication records. </a:t>
            </a:r>
          </a:p>
          <a:p>
            <a:pPr>
              <a:lnSpc>
                <a:spcPct val="100000"/>
              </a:lnSpc>
              <a:buNone/>
            </a:pPr>
            <a:r>
              <a:rPr lang="en-US" altLang="en-US" sz="1800" dirty="0">
                <a:latin typeface="Times New Roman" panose="02020603050405020304" pitchFamily="18" charset="0"/>
                <a:cs typeface="Times New Roman" panose="02020603050405020304" pitchFamily="18" charset="0"/>
              </a:rPr>
              <a:t> </a:t>
            </a:r>
            <a:endParaRPr lang="en-IN" altLang="en-US" sz="1800"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80652"/>
            <a:ext cx="8229600" cy="1125415"/>
          </a:xfrm>
        </p:spPr>
        <p:txBody>
          <a:bodyPr>
            <a:normAutofit fontScale="90000"/>
          </a:bodyPr>
          <a:lstStyle/>
          <a:p>
            <a:br>
              <a:rPr lang="en-IN" sz="4000" b="1" dirty="0">
                <a:latin typeface="Times New Roman" panose="02020603050405020304" pitchFamily="18" charset="0"/>
                <a:cs typeface="Times New Roman" panose="02020603050405020304" pitchFamily="18" charset="0"/>
              </a:rPr>
            </a:br>
            <a:br>
              <a:rPr lang="en-IN" sz="4000" b="1" dirty="0">
                <a:latin typeface="Times New Roman" panose="02020603050405020304" pitchFamily="18" charset="0"/>
                <a:cs typeface="Times New Roman" panose="02020603050405020304" pitchFamily="18" charset="0"/>
              </a:rPr>
            </a:br>
            <a:r>
              <a:rPr lang="en-US" sz="4890" b="1" dirty="0">
                <a:latin typeface="Times New Roman" panose="02020603050405020304" pitchFamily="18" charset="0"/>
                <a:cs typeface="Times New Roman" panose="02020603050405020304" pitchFamily="18" charset="0"/>
                <a:sym typeface="+mn-ea"/>
              </a:rPr>
              <a:t>Process Model Used</a:t>
            </a:r>
            <a:br>
              <a:rPr lang="en-US" sz="4000" b="1" u="sng" dirty="0">
                <a:latin typeface="Times New Roman" panose="02020603050405020304" pitchFamily="18" charset="0"/>
                <a:cs typeface="Times New Roman" panose="02020603050405020304" pitchFamily="18" charset="0"/>
              </a:rPr>
            </a:br>
            <a:endParaRPr sz="40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670685"/>
            <a:ext cx="4419600" cy="3839845"/>
          </a:xfrm>
        </p:spPr>
        <p:txBody>
          <a:bodyPr>
            <a:normAutofit/>
          </a:bodyPr>
          <a:lstStyle/>
          <a:p>
            <a:pPr algn="l">
              <a:spcAft>
                <a:spcPts val="300"/>
              </a:spcAft>
              <a:buFont typeface="Arial" panose="020B0604020202020204" pitchFamily="34" charset="0"/>
              <a:buChar char="•"/>
            </a:pPr>
            <a:r>
              <a:rPr lang="en-IN" altLang="en-US" sz="1800" b="1" i="0" dirty="0">
                <a:effectLst/>
                <a:latin typeface="Times New Roman" panose="02020603050405020304" pitchFamily="18" charset="0"/>
                <a:cs typeface="Times New Roman" panose="02020603050405020304" pitchFamily="18" charset="0"/>
              </a:rPr>
              <a:t>Spiral</a:t>
            </a:r>
            <a:r>
              <a:rPr lang="en-US" sz="1800" b="1" i="0" dirty="0">
                <a:effectLst/>
                <a:latin typeface="Times New Roman" panose="02020603050405020304" pitchFamily="18" charset="0"/>
                <a:cs typeface="Times New Roman" panose="02020603050405020304" pitchFamily="18" charset="0"/>
              </a:rPr>
              <a:t> Methodology:</a:t>
            </a:r>
            <a:endParaRPr lang="en-US" sz="18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Iterative development with regular feedback and improvements.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Focus on delivering functional modules in sprints.</a:t>
            </a:r>
          </a:p>
          <a:p>
            <a:pPr algn="l">
              <a:spcBef>
                <a:spcPts val="300"/>
              </a:spcBef>
              <a:spcAft>
                <a:spcPts val="300"/>
              </a:spcAft>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Key Phases:</a:t>
            </a:r>
            <a:endParaRPr lang="en-US" sz="1800" b="0" i="0" dirty="0">
              <a:effectLst/>
              <a:latin typeface="Times New Roman" panose="02020603050405020304" pitchFamily="18" charset="0"/>
              <a:cs typeface="Times New Roman" panose="02020603050405020304" pitchFamily="18" charset="0"/>
            </a:endParaRP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Requirement gathering and analysis.</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System design and prototyping.</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Development and testing.</a:t>
            </a:r>
          </a:p>
          <a:p>
            <a:pPr marL="742950" lvl="1" indent="-285750" algn="l">
              <a:spcBef>
                <a:spcPts val="300"/>
              </a:spcBef>
              <a:buFont typeface="Arial" panose="020B0604020202020204" pitchFamily="34" charset="0"/>
              <a:buChar char="•"/>
            </a:pPr>
            <a:r>
              <a:rPr lang="en-US" sz="1800" b="0" i="0" dirty="0">
                <a:effectLst/>
                <a:latin typeface="Times New Roman" panose="02020603050405020304" pitchFamily="18" charset="0"/>
                <a:cs typeface="Times New Roman" panose="02020603050405020304" pitchFamily="18" charset="0"/>
              </a:rPr>
              <a:t>Deployment and maintenance.</a:t>
            </a:r>
          </a:p>
          <a:p>
            <a:pPr marL="0" indent="0">
              <a:buNone/>
            </a:pPr>
            <a:endParaRPr sz="1800" dirty="0">
              <a:latin typeface="Times New Roman" panose="02020603050405020304" pitchFamily="18" charset="0"/>
              <a:cs typeface="Times New Roman" panose="02020603050405020304" pitchFamily="18" charset="0"/>
            </a:endParaRPr>
          </a:p>
        </p:txBody>
      </p:sp>
      <p:grpSp>
        <p:nvGrpSpPr>
          <p:cNvPr id="7" name="Group 6"/>
          <p:cNvGrpSpPr/>
          <p:nvPr/>
        </p:nvGrpSpPr>
        <p:grpSpPr>
          <a:xfrm>
            <a:off x="342900" y="71120"/>
            <a:ext cx="8719931" cy="1003300"/>
            <a:chOff x="342900" y="71120"/>
            <a:chExt cx="8719931" cy="1003300"/>
          </a:xfrm>
        </p:grpSpPr>
        <p:pic>
          <p:nvPicPr>
            <p:cNvPr id="8"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p:nvPr/>
          </p:nvPicPr>
          <p:blipFill>
            <a:blip r:embed="rId4"/>
            <a:stretch>
              <a:fillRect/>
            </a:stretch>
          </p:blipFill>
          <p:spPr>
            <a:xfrm>
              <a:off x="342900" y="160338"/>
              <a:ext cx="990600" cy="494982"/>
            </a:xfrm>
            <a:prstGeom prst="rect">
              <a:avLst/>
            </a:prstGeom>
          </p:spPr>
        </p:pic>
        <p:sp>
          <p:nvSpPr>
            <p:cNvPr id="10" name="TextBox 9"/>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pic>
        <p:nvPicPr>
          <p:cNvPr id="3983" name="Picture 3983"/>
          <p:cNvPicPr/>
          <p:nvPr/>
        </p:nvPicPr>
        <p:blipFill>
          <a:blip r:embed="rId5"/>
          <a:stretch>
            <a:fillRect/>
          </a:stretch>
        </p:blipFill>
        <p:spPr>
          <a:xfrm>
            <a:off x="4585335" y="1670685"/>
            <a:ext cx="3481705" cy="33572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076960"/>
            <a:ext cx="7886700" cy="4412615"/>
          </a:xfrm>
        </p:spPr>
        <p:txBody>
          <a:bodyPr>
            <a:noAutofit/>
          </a:bodyPr>
          <a:lstStyle/>
          <a:p>
            <a:pPr>
              <a:lnSpc>
                <a:spcPct val="150000"/>
              </a:lnSpc>
              <a:buNone/>
            </a:pPr>
            <a:r>
              <a:rPr lang="en-US" altLang="en-US" sz="1800" b="1" dirty="0">
                <a:latin typeface="Times New Roman" panose="02020603050405020304" pitchFamily="18" charset="0"/>
                <a:cs typeface="Times New Roman" panose="02020603050405020304" pitchFamily="18" charset="0"/>
              </a:rPr>
              <a:t>1.	Planning Phase: </a:t>
            </a:r>
          </a:p>
          <a:p>
            <a:pPr>
              <a:lnSpc>
                <a:spcPct val="150000"/>
              </a:lnSpc>
              <a:buNone/>
            </a:pPr>
            <a:r>
              <a:rPr lang="en-US" altLang="en-US" sz="1800" dirty="0">
                <a:latin typeface="Times New Roman" panose="02020603050405020304" pitchFamily="18" charset="0"/>
                <a:cs typeface="Times New Roman" panose="02020603050405020304" pitchFamily="18" charset="0"/>
              </a:rPr>
              <a:t>•	Gather requirements from stakeholders (admin, staff, approvers) regarding document upload, classification, forwarding, status tracking, and archiving. </a:t>
            </a:r>
          </a:p>
          <a:p>
            <a:pPr>
              <a:lnSpc>
                <a:spcPct val="150000"/>
              </a:lnSpc>
              <a:buNone/>
            </a:pPr>
            <a:r>
              <a:rPr lang="en-US" altLang="en-US" sz="1800" dirty="0">
                <a:latin typeface="Times New Roman" panose="02020603050405020304" pitchFamily="18" charset="0"/>
                <a:cs typeface="Times New Roman" panose="02020603050405020304" pitchFamily="18" charset="0"/>
              </a:rPr>
              <a:t>•	Identify risks such as unauthorized access, data loss, inconsistent workflows, or integration issues with existing systems (email, ERP). </a:t>
            </a:r>
          </a:p>
          <a:p>
            <a:pPr>
              <a:lnSpc>
                <a:spcPct val="150000"/>
              </a:lnSpc>
              <a:buNone/>
            </a:pPr>
            <a:r>
              <a:rPr lang="en-US" altLang="en-US" sz="1800" dirty="0">
                <a:latin typeface="Times New Roman" panose="02020603050405020304" pitchFamily="18" charset="0"/>
                <a:cs typeface="Times New Roman" panose="02020603050405020304" pitchFamily="18" charset="0"/>
              </a:rPr>
              <a:t>•	Decide on tech stack: PHP, MySQL, JavaScript, Bootstrap, etc. </a:t>
            </a:r>
          </a:p>
          <a:p>
            <a:pPr>
              <a:lnSpc>
                <a:spcPct val="150000"/>
              </a:lnSpc>
              <a:buNone/>
            </a:pPr>
            <a:r>
              <a:rPr lang="en-US" altLang="en-US" sz="1800" b="1" dirty="0">
                <a:latin typeface="Times New Roman" panose="02020603050405020304" pitchFamily="18" charset="0"/>
                <a:cs typeface="Times New Roman" panose="02020603050405020304" pitchFamily="18" charset="0"/>
              </a:rPr>
              <a:t>2.	Risk Analysis Phase: </a:t>
            </a:r>
          </a:p>
          <a:p>
            <a:pPr>
              <a:lnSpc>
                <a:spcPct val="150000"/>
              </a:lnSpc>
              <a:buNone/>
            </a:pPr>
            <a:r>
              <a:rPr lang="en-US" altLang="en-US" sz="1800" dirty="0">
                <a:latin typeface="Times New Roman" panose="02020603050405020304" pitchFamily="18" charset="0"/>
                <a:cs typeface="Times New Roman" panose="02020603050405020304" pitchFamily="18" charset="0"/>
              </a:rPr>
              <a:t>•	Evaluate risks like SQL injection vulnerabilities, inefficient file storage, or delays in approval chains. </a:t>
            </a:r>
          </a:p>
          <a:p>
            <a:pPr>
              <a:lnSpc>
                <a:spcPct val="150000"/>
              </a:lnSpc>
              <a:buNone/>
            </a:pPr>
            <a:r>
              <a:rPr lang="en-US" altLang="en-US" sz="1800" dirty="0">
                <a:latin typeface="Times New Roman" panose="02020603050405020304" pitchFamily="18" charset="0"/>
                <a:cs typeface="Times New Roman" panose="02020603050405020304" pitchFamily="18" charset="0"/>
              </a:rPr>
              <a:t>•	Use authentication and role-based access control. </a:t>
            </a:r>
          </a:p>
          <a:p>
            <a:pPr>
              <a:lnSpc>
                <a:spcPct val="150000"/>
              </a:lnSpc>
              <a:buNone/>
            </a:pPr>
            <a:r>
              <a:rPr lang="en-US" altLang="en-US" sz="1800" dirty="0">
                <a:latin typeface="Times New Roman" panose="02020603050405020304" pitchFamily="18" charset="0"/>
                <a:cs typeface="Times New Roman" panose="02020603050405020304" pitchFamily="18" charset="0"/>
              </a:rPr>
              <a:t>•	Sanitize inputs and implement secure upload/download mechanisms. </a:t>
            </a:r>
          </a:p>
          <a:p>
            <a:pPr>
              <a:lnSpc>
                <a:spcPct val="150000"/>
              </a:lnSpc>
              <a:buNone/>
            </a:pPr>
            <a:r>
              <a:rPr lang="en-US" altLang="en-US" sz="1800" dirty="0">
                <a:latin typeface="Times New Roman" panose="02020603050405020304" pitchFamily="18" charset="0"/>
                <a:cs typeface="Times New Roman" panose="02020603050405020304" pitchFamily="18" charset="0"/>
              </a:rPr>
              <a:t>•	Design a scalable and modular database schema. </a:t>
            </a:r>
          </a:p>
          <a:p>
            <a:pPr>
              <a:lnSpc>
                <a:spcPct val="150000"/>
              </a:lnSpc>
              <a:buNone/>
            </a:pPr>
            <a:endParaRPr lang="en-US" altLang="en-US" sz="1800"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89660"/>
            <a:ext cx="8229600" cy="5036820"/>
          </a:xfrm>
        </p:spPr>
        <p:txBody>
          <a:bodyPr>
            <a:noAutofit/>
          </a:bodyPr>
          <a:lstStyle/>
          <a:p>
            <a:pPr>
              <a:lnSpc>
                <a:spcPct val="150000"/>
              </a:lnSpc>
              <a:buNone/>
            </a:pPr>
            <a:r>
              <a:rPr lang="en-US" altLang="en-US" sz="1800" b="1" dirty="0">
                <a:latin typeface="Times New Roman" panose="02020603050405020304" pitchFamily="18" charset="0"/>
                <a:cs typeface="Times New Roman" panose="02020603050405020304" pitchFamily="18" charset="0"/>
                <a:sym typeface="+mn-ea"/>
              </a:rPr>
              <a:t>3.	Engineering Phase: </a:t>
            </a:r>
            <a:endParaRPr lang="en-US" altLang="en-US" sz="1800" b="1"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User authentication and access control.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Document upload, metadata tagging, and category-based organization.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Workflow module for forwarding letters to concerned departments.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Dashboard for status updates and alerts.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Backend using PHP with MySQL, frontend with HTML/CSS/JS/Bootstrap.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b="1" dirty="0">
                <a:latin typeface="Times New Roman" panose="02020603050405020304" pitchFamily="18" charset="0"/>
                <a:cs typeface="Times New Roman" panose="02020603050405020304" pitchFamily="18" charset="0"/>
                <a:sym typeface="+mn-ea"/>
              </a:rPr>
              <a:t>4.	Evaluation Phase: </a:t>
            </a:r>
            <a:endParaRPr lang="en-US" altLang="en-US" sz="1800" b="1"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Usability, responsiveness, and accuracy in document routing.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Security of uploaded documents and user roles.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Performance under load (bulk uploads, multiple users).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US" altLang="en-US" sz="1800" dirty="0">
                <a:latin typeface="Times New Roman" panose="02020603050405020304" pitchFamily="18" charset="0"/>
                <a:cs typeface="Times New Roman" panose="02020603050405020304" pitchFamily="18" charset="0"/>
                <a:sym typeface="+mn-ea"/>
              </a:rPr>
              <a:t>•	Collect feedback from users—admin, departments, and clerical staff.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r>
              <a:rPr lang="en-IN" altLang="en-US" sz="1800" dirty="0">
                <a:latin typeface="Times New Roman" panose="02020603050405020304" pitchFamily="18" charset="0"/>
                <a:cs typeface="Times New Roman" panose="02020603050405020304" pitchFamily="18" charset="0"/>
                <a:sym typeface="+mn-ea"/>
              </a:rPr>
              <a:t>      </a:t>
            </a:r>
            <a:r>
              <a:rPr lang="en-US" altLang="en-US" sz="1800" dirty="0">
                <a:latin typeface="Times New Roman" panose="02020603050405020304" pitchFamily="18" charset="0"/>
                <a:cs typeface="Times New Roman" panose="02020603050405020304" pitchFamily="18" charset="0"/>
                <a:sym typeface="+mn-ea"/>
              </a:rPr>
              <a:t>accordingly. </a:t>
            </a:r>
            <a:endParaRPr lang="en-US" altLang="en-US" sz="1800" dirty="0">
              <a:latin typeface="Times New Roman" panose="02020603050405020304" pitchFamily="18" charset="0"/>
              <a:cs typeface="Times New Roman" panose="02020603050405020304" pitchFamily="18" charset="0"/>
            </a:endParaRPr>
          </a:p>
          <a:p>
            <a:pPr>
              <a:lnSpc>
                <a:spcPct val="150000"/>
              </a:lnSpc>
              <a:buNone/>
            </a:pPr>
            <a:endParaRPr lang="en-US" altLang="en-US" sz="1800" dirty="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40170"/>
            <a:ext cx="7886700" cy="680399"/>
          </a:xfrm>
        </p:spPr>
        <p:txBody>
          <a:bodyPr>
            <a:noAutofit/>
          </a:bodyPr>
          <a:lstStyle/>
          <a:p>
            <a:pPr algn="ctr"/>
            <a:r>
              <a:rPr lang="en-US" b="1" dirty="0">
                <a:latin typeface="Times New Roman" panose="02020603050405020304" pitchFamily="18" charset="0"/>
                <a:cs typeface="Times New Roman" panose="02020603050405020304" pitchFamily="18" charset="0"/>
              </a:rPr>
              <a:t>Design Phase</a:t>
            </a:r>
          </a:p>
        </p:txBody>
      </p:sp>
      <p:sp>
        <p:nvSpPr>
          <p:cNvPr id="3" name="Content Placeholder 2"/>
          <p:cNvSpPr>
            <a:spLocks noGrp="1"/>
          </p:cNvSpPr>
          <p:nvPr>
            <p:ph idx="1"/>
          </p:nvPr>
        </p:nvSpPr>
        <p:spPr>
          <a:xfrm>
            <a:off x="628650" y="2027582"/>
            <a:ext cx="7886700" cy="3350048"/>
          </a:xfrm>
        </p:spPr>
        <p:txBody>
          <a:bodyPr>
            <a:noAutofit/>
          </a:bodyPr>
          <a:lstStyle/>
          <a:p>
            <a:pPr marL="0" indent="0">
              <a:lnSpc>
                <a:spcPct val="100000"/>
              </a:lnSpc>
              <a:buNone/>
            </a:pPr>
            <a:r>
              <a:rPr lang="en-US" sz="1800" b="1" dirty="0">
                <a:latin typeface="Times New Roman" panose="02020603050405020304" pitchFamily="18" charset="0"/>
                <a:cs typeface="Times New Roman" panose="02020603050405020304" pitchFamily="18" charset="0"/>
              </a:rPr>
              <a:t>Design Concepts:</a:t>
            </a:r>
          </a:p>
          <a:p>
            <a:pPr marL="0" indent="0">
              <a:lnSpc>
                <a:spcPct val="100000"/>
              </a:lnSpc>
              <a:buNone/>
            </a:pPr>
            <a:r>
              <a:rPr lang="en-US" sz="1800" b="1" dirty="0">
                <a:latin typeface="Times New Roman" panose="02020603050405020304" pitchFamily="18" charset="0"/>
                <a:cs typeface="Times New Roman" panose="02020603050405020304" pitchFamily="18" charset="0"/>
              </a:rPr>
              <a:t>• Personalized User Experience:</a:t>
            </a:r>
          </a:p>
          <a:p>
            <a:pPr marL="0" indent="0">
              <a:lnSpc>
                <a:spcPct val="100000"/>
              </a:lnSpc>
              <a:buNone/>
            </a:pPr>
            <a:r>
              <a:rPr lang="en-US" sz="1800" dirty="0">
                <a:latin typeface="Times New Roman" panose="02020603050405020304" pitchFamily="18" charset="0"/>
                <a:cs typeface="Times New Roman" panose="02020603050405020304" pitchFamily="18" charset="0"/>
              </a:rPr>
              <a:t>The platform uses machine learning algorithms to provide tailored product </a:t>
            </a:r>
            <a:r>
              <a:rPr lang="en-IN"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recommendations based on user </a:t>
            </a:r>
            <a:r>
              <a:rPr lang="en-US" sz="1800" dirty="0" err="1">
                <a:latin typeface="Times New Roman" panose="02020603050405020304" pitchFamily="18" charset="0"/>
                <a:cs typeface="Times New Roman" panose="02020603050405020304" pitchFamily="18" charset="0"/>
              </a:rPr>
              <a:t>behaviour</a:t>
            </a:r>
            <a:r>
              <a:rPr lang="en-US" sz="1800" dirty="0">
                <a:latin typeface="Times New Roman" panose="02020603050405020304" pitchFamily="18" charset="0"/>
                <a:cs typeface="Times New Roman" panose="02020603050405020304" pitchFamily="18" charset="0"/>
              </a:rPr>
              <a:t>, preferences, and past interactions, ensuring a highly personalized shopping experience.</a:t>
            </a:r>
          </a:p>
          <a:p>
            <a:pPr marL="0" indent="0">
              <a:lnSpc>
                <a:spcPct val="100000"/>
              </a:lnSpc>
              <a:buNone/>
            </a:pPr>
            <a:r>
              <a:rPr lang="en-US" sz="1800" b="1" dirty="0">
                <a:latin typeface="Times New Roman" panose="02020603050405020304" pitchFamily="18" charset="0"/>
                <a:cs typeface="Times New Roman" panose="02020603050405020304" pitchFamily="18" charset="0"/>
              </a:rPr>
              <a:t>• Dynamic Product Categorization:</a:t>
            </a:r>
          </a:p>
          <a:p>
            <a:pPr marL="0" indent="0">
              <a:lnSpc>
                <a:spcPct val="100000"/>
              </a:lnSpc>
              <a:buNone/>
            </a:pPr>
            <a:r>
              <a:rPr lang="en-IN"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Products are categorized using attribute-based tagging enabling efficient search and 	discovery of products that match user preferences.</a:t>
            </a:r>
          </a:p>
          <a:p>
            <a:pPr marL="0" indent="0">
              <a:lnSpc>
                <a:spcPct val="100000"/>
              </a:lnSpc>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Multi-Algorithmic Recommendation Engine:</a:t>
            </a:r>
          </a:p>
          <a:p>
            <a:pPr marL="0" indent="0">
              <a:lnSpc>
                <a:spcPct val="100000"/>
              </a:lnSpc>
              <a:buNone/>
            </a:pPr>
            <a:r>
              <a:rPr lang="en-US" sz="1800" dirty="0">
                <a:latin typeface="Times New Roman" panose="02020603050405020304" pitchFamily="18" charset="0"/>
                <a:cs typeface="Times New Roman" panose="02020603050405020304" pitchFamily="18" charset="0"/>
              </a:rPr>
              <a:t>The platform combines collaborative filtering and content-based filtering to deliver accurate 	and relevant product suggestions, enhancing user engagement and satisfaction.</a:t>
            </a:r>
          </a:p>
          <a:p>
            <a:pPr marL="0" indent="0">
              <a:lnSpc>
                <a:spcPct val="100000"/>
              </a:lnSpc>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771710"/>
            <a:ext cx="7886700" cy="4123903"/>
          </a:xfrm>
        </p:spPr>
        <p:txBody>
          <a:bodyPr>
            <a:noAutofit/>
          </a:bodyPr>
          <a:lstStyle/>
          <a:p>
            <a:pPr marL="0" indent="0">
              <a:lnSpc>
                <a:spcPct val="100000"/>
              </a:lnSpc>
              <a:buNone/>
            </a:pPr>
            <a:r>
              <a:rPr lang="en-IN" altLang="en-US" sz="4400" b="1"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Design Constraints</a:t>
            </a:r>
          </a:p>
          <a:p>
            <a:pPr marL="0" indent="0">
              <a:lnSpc>
                <a:spcPct val="100000"/>
              </a:lnSpc>
              <a:buNone/>
            </a:pPr>
            <a:r>
              <a:rPr lang="en-US" altLang="en-US" sz="1800" b="1" dirty="0">
                <a:latin typeface="Times New Roman" panose="02020603050405020304" pitchFamily="18" charset="0"/>
                <a:cs typeface="Times New Roman" panose="02020603050405020304" pitchFamily="18" charset="0"/>
              </a:rPr>
              <a:t>•	Data Privacy and Security: </a:t>
            </a:r>
          </a:p>
          <a:p>
            <a:pPr marL="0" indent="0">
              <a:lnSpc>
                <a:spcPct val="100000"/>
              </a:lnSpc>
              <a:buNone/>
            </a:pPr>
            <a:r>
              <a:rPr lang="en-US" altLang="en-US" sz="1800" dirty="0">
                <a:latin typeface="Times New Roman" panose="02020603050405020304" pitchFamily="18" charset="0"/>
                <a:cs typeface="Times New Roman" panose="02020603050405020304" pitchFamily="18" charset="0"/>
              </a:rPr>
              <a:t>The system must ensure confidentiality and integrity of documents through secure authentication, role-based access control, and encryption of sensitive data, complying with institutional and data protection policies. </a:t>
            </a:r>
          </a:p>
          <a:p>
            <a:pPr marL="0" indent="0">
              <a:lnSpc>
                <a:spcPct val="100000"/>
              </a:lnSpc>
              <a:buNone/>
            </a:pPr>
            <a:r>
              <a:rPr lang="en-US" altLang="en-US" sz="1800" b="1" dirty="0">
                <a:latin typeface="Times New Roman" panose="02020603050405020304" pitchFamily="18" charset="0"/>
                <a:cs typeface="Times New Roman" panose="02020603050405020304" pitchFamily="18" charset="0"/>
              </a:rPr>
              <a:t>•	Scalability: </a:t>
            </a:r>
          </a:p>
          <a:p>
            <a:pPr marL="0" indent="0">
              <a:lnSpc>
                <a:spcPct val="100000"/>
              </a:lnSpc>
              <a:buNone/>
            </a:pPr>
            <a:r>
              <a:rPr lang="en-US" altLang="en-US" sz="1800" dirty="0">
                <a:latin typeface="Times New Roman" panose="02020603050405020304" pitchFamily="18" charset="0"/>
                <a:cs typeface="Times New Roman" panose="02020603050405020304" pitchFamily="18" charset="0"/>
              </a:rPr>
              <a:t>The system should support growing volumes of documents, users, and workflows without significant performance degradation, requiring efficient database design and modular code architecture. </a:t>
            </a:r>
          </a:p>
          <a:p>
            <a:pPr marL="0" indent="0">
              <a:lnSpc>
                <a:spcPct val="100000"/>
              </a:lnSpc>
              <a:buNone/>
            </a:pPr>
            <a:r>
              <a:rPr lang="en-US" altLang="en-US" sz="1800" b="1" dirty="0">
                <a:latin typeface="Times New Roman" panose="02020603050405020304" pitchFamily="18" charset="0"/>
                <a:cs typeface="Times New Roman" panose="02020603050405020304" pitchFamily="18" charset="0"/>
              </a:rPr>
              <a:t>•	Real-Time Notifications and Updates: </a:t>
            </a:r>
          </a:p>
          <a:p>
            <a:pPr marL="0" indent="0">
              <a:lnSpc>
                <a:spcPct val="100000"/>
              </a:lnSpc>
              <a:buNone/>
            </a:pPr>
            <a:r>
              <a:rPr lang="en-US" altLang="en-US" sz="1800" dirty="0">
                <a:latin typeface="Times New Roman" panose="02020603050405020304" pitchFamily="18" charset="0"/>
                <a:cs typeface="Times New Roman" panose="02020603050405020304" pitchFamily="18" charset="0"/>
              </a:rPr>
              <a:t>The platform must provide real-time status updates and notifications to users for document movement, approvals, and deadlines, demanding low-latency processing and reliable backend services. </a:t>
            </a:r>
          </a:p>
          <a:p>
            <a:pPr marL="0" indent="0">
              <a:lnSpc>
                <a:spcPct val="100000"/>
              </a:lnSpc>
              <a:buNone/>
            </a:pPr>
            <a:r>
              <a:rPr lang="en-US" altLang="en-US" sz="1800" b="1" dirty="0">
                <a:latin typeface="Times New Roman" panose="02020603050405020304" pitchFamily="18" charset="0"/>
                <a:cs typeface="Times New Roman" panose="02020603050405020304" pitchFamily="18" charset="0"/>
              </a:rPr>
              <a:t>•	Integration with Legacy Systems: </a:t>
            </a:r>
          </a:p>
          <a:p>
            <a:pPr marL="0" indent="0">
              <a:lnSpc>
                <a:spcPct val="100000"/>
              </a:lnSpc>
              <a:buNone/>
            </a:pPr>
            <a:r>
              <a:rPr lang="en-US" altLang="en-US" sz="1800" dirty="0">
                <a:latin typeface="Times New Roman" panose="02020603050405020304" pitchFamily="18" charset="0"/>
                <a:cs typeface="Times New Roman" panose="02020603050405020304" pitchFamily="18" charset="0"/>
              </a:rPr>
              <a:t>The system must integrate smoothly with existing institutional tools (e.g., email servers, LDAP/SSO login, ERP systems), which may vary in technology and protocols. </a:t>
            </a:r>
          </a:p>
          <a:p>
            <a:pPr marL="0" indent="0">
              <a:lnSpc>
                <a:spcPct val="100000"/>
              </a:lnSpc>
              <a:buNone/>
            </a:pPr>
            <a:endParaRPr lang="en-US" alt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658620"/>
            <a:ext cx="7863840" cy="4700905"/>
          </a:xfrm>
        </p:spPr>
        <p:txBody>
          <a:bodyPr>
            <a:noAutofit/>
          </a:bodyPr>
          <a:lstStyle/>
          <a:p>
            <a:pPr marL="0" lvl="0" indent="0">
              <a:lnSpc>
                <a:spcPct val="120000"/>
              </a:lnSpc>
              <a:buNone/>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Document Submission → Users upload documents through the web or mobile interface. </a:t>
            </a:r>
          </a:p>
          <a:p>
            <a:pPr marL="0" lvl="0" indent="0">
              <a:lnSpc>
                <a:spcPct val="120000"/>
              </a:lnSpc>
              <a:buNone/>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Metadata and Document Storage → The system stores documents and associated metadata in a secure database (e.g., MySQL or PostgreSQL). </a:t>
            </a:r>
          </a:p>
          <a:p>
            <a:pPr marL="0" lvl="0" indent="0">
              <a:lnSpc>
                <a:spcPct val="120000"/>
              </a:lnSpc>
              <a:buNone/>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Approval Workflow → When a document is submitted, it enters the approval queue. Assigned users receive notifications and either approve, reject, or comment on the document. </a:t>
            </a:r>
          </a:p>
          <a:p>
            <a:pPr marL="0" lvl="0" indent="0">
              <a:lnSpc>
                <a:spcPct val="120000"/>
              </a:lnSpc>
              <a:buNone/>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Automated Notifications → The system sends automatic notifications to users involved in the approval process and tracks all actions for accountability. </a:t>
            </a:r>
          </a:p>
          <a:p>
            <a:pPr marL="0" lvl="0" indent="0">
              <a:lnSpc>
                <a:spcPct val="120000"/>
              </a:lnSpc>
              <a:buNone/>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Admin Actions → Admins can view, modify, and manage document statuses, user roles, and system-wide settings. </a:t>
            </a:r>
          </a:p>
          <a:p>
            <a:pPr marL="0" lvl="0" indent="0">
              <a:lnSpc>
                <a:spcPct val="120000"/>
              </a:lnSpc>
              <a:buNone/>
              <a:tabLst>
                <a:tab pos="457200" algn="l"/>
              </a:tabLst>
            </a:pPr>
            <a:r>
              <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rPr>
              <a:t>•	Audit and Logs → The system tracks all document actions and user interactions for auditing purposes. </a:t>
            </a:r>
          </a:p>
          <a:p>
            <a:pPr marL="0" lvl="0" indent="0">
              <a:lnSpc>
                <a:spcPct val="120000"/>
              </a:lnSpc>
              <a:buNone/>
              <a:tabLst>
                <a:tab pos="457200" algn="l"/>
              </a:tabLst>
            </a:pPr>
            <a:endParaRPr lang="en-US" altLang="en-US" sz="1800" kern="100" dirty="0">
              <a:effectLst/>
              <a:latin typeface="Times New Roman" panose="02020603050405020304" pitchFamily="18" charset="0"/>
              <a:ea typeface="DengXian" panose="02010600030101010101" pitchFamily="2" charset="-122"/>
              <a:cs typeface="Times New Roman" panose="02020603050405020304" pitchFamily="18" charset="0"/>
            </a:endParaRPr>
          </a:p>
        </p:txBody>
      </p:sp>
      <p:sp>
        <p:nvSpPr>
          <p:cNvPr id="2" name="TextBox 1"/>
          <p:cNvSpPr txBox="1"/>
          <p:nvPr/>
        </p:nvSpPr>
        <p:spPr>
          <a:xfrm>
            <a:off x="628871" y="890463"/>
            <a:ext cx="7871792" cy="768350"/>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Logical Design </a:t>
            </a:r>
          </a:p>
        </p:txBody>
      </p:sp>
      <p:sp>
        <p:nvSpPr>
          <p:cNvPr id="4" name="AutoShape 2" descr="Image of "/>
          <p:cNvSpPr>
            <a:spLocks noChangeAspect="1" noChangeArrowheads="1"/>
          </p:cNvSpPr>
          <p:nvPr/>
        </p:nvSpPr>
        <p:spPr bwMode="auto">
          <a:xfrm>
            <a:off x="4457700" y="33147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5488"/>
            <a:ext cx="8229600" cy="1143000"/>
          </a:xfrm>
        </p:spPr>
        <p:txBody>
          <a:bodyPr/>
          <a:lstStyle/>
          <a:p>
            <a:r>
              <a:rPr lang="en-US" b="1" dirty="0">
                <a:latin typeface="Times New Roman" panose="02020603050405020304" pitchFamily="18" charset="0"/>
                <a:cs typeface="Times New Roman" panose="02020603050405020304" pitchFamily="18" charset="0"/>
                <a:sym typeface="+mn-ea"/>
              </a:rPr>
              <a:t>Design Phase</a:t>
            </a:r>
            <a:endParaRPr lang="en-IN" altLang="en-US" b="1"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noAutofit/>
          </a:bodyPr>
          <a:lstStyle/>
          <a:p>
            <a:r>
              <a:rPr lang="en-US" altLang="en-US" sz="1800" b="1">
                <a:latin typeface="Times New Roman" panose="02020603050405020304" pitchFamily="18" charset="0"/>
                <a:cs typeface="Times New Roman" panose="02020603050405020304" pitchFamily="18" charset="0"/>
              </a:rPr>
              <a:t>Personalized User Experience: </a:t>
            </a:r>
          </a:p>
          <a:p>
            <a:r>
              <a:rPr lang="en-US" altLang="en-US" sz="1800">
                <a:latin typeface="Times New Roman" panose="02020603050405020304" pitchFamily="18" charset="0"/>
                <a:cs typeface="Times New Roman" panose="02020603050405020304" pitchFamily="18" charset="0"/>
              </a:rPr>
              <a:t>The system provides a personalized dashboard for different user roles (e.g., Admin, Staff, Approver), ensuring relevant access and actions such as uploading, forwarding, reviewing, and archiving documents. </a:t>
            </a:r>
          </a:p>
          <a:p>
            <a:r>
              <a:rPr lang="en-US" altLang="en-US" sz="1800" b="1">
                <a:latin typeface="Times New Roman" panose="02020603050405020304" pitchFamily="18" charset="0"/>
                <a:cs typeface="Times New Roman" panose="02020603050405020304" pitchFamily="18" charset="0"/>
              </a:rPr>
              <a:t>Metadata-Driven Document Tagging: </a:t>
            </a:r>
          </a:p>
          <a:p>
            <a:r>
              <a:rPr lang="en-US" altLang="en-US" sz="1800">
                <a:latin typeface="Times New Roman" panose="02020603050405020304" pitchFamily="18" charset="0"/>
                <a:cs typeface="Times New Roman" panose="02020603050405020304" pitchFamily="18" charset="0"/>
              </a:rPr>
              <a:t>Each letter/document is tagged with essential metadata (e.g., subject, department, priority, sender, date), allowing efficient categorization, filtering, and retrieval of documents. </a:t>
            </a:r>
          </a:p>
          <a:p>
            <a:r>
              <a:rPr lang="en-US" altLang="en-US" sz="1800" b="1">
                <a:latin typeface="Times New Roman" panose="02020603050405020304" pitchFamily="18" charset="0"/>
                <a:cs typeface="Times New Roman" panose="02020603050405020304" pitchFamily="18" charset="0"/>
              </a:rPr>
              <a:t>Secure Upload, Access, and Versioning: </a:t>
            </a:r>
          </a:p>
          <a:p>
            <a:r>
              <a:rPr lang="en-US" altLang="en-US" sz="1800">
                <a:latin typeface="Times New Roman" panose="02020603050405020304" pitchFamily="18" charset="0"/>
                <a:cs typeface="Times New Roman" panose="02020603050405020304" pitchFamily="18" charset="0"/>
              </a:rPr>
              <a:t>Documents are routed automatically through predefined workflows based on department and urgency, while the system updates statuses (e.g., "Pending Review", "Approved", "Archived") in real-time to improve transparency and traceability. </a:t>
            </a:r>
          </a:p>
          <a:p>
            <a:r>
              <a:rPr lang="en-US" altLang="en-US" sz="1800" b="1">
                <a:latin typeface="Times New Roman" panose="02020603050405020304" pitchFamily="18" charset="0"/>
                <a:cs typeface="Times New Roman" panose="02020603050405020304" pitchFamily="18" charset="0"/>
              </a:rPr>
              <a:t>Multi-Algorithmic Recommendation Engine: </a:t>
            </a:r>
          </a:p>
          <a:p>
            <a:r>
              <a:rPr lang="en-US" altLang="en-US" sz="1800">
                <a:latin typeface="Times New Roman" panose="02020603050405020304" pitchFamily="18" charset="0"/>
                <a:cs typeface="Times New Roman" panose="02020603050405020304" pitchFamily="18" charset="0"/>
              </a:rPr>
              <a:t>Documents are securely uploaded and managed using encrypted storage paths. Version control ensures document history is maintained and changes are tracked, with rollback options if needed. </a:t>
            </a:r>
          </a:p>
          <a:p>
            <a:pPr marL="0" indent="0">
              <a:buNone/>
            </a:pPr>
            <a:endParaRPr lang="en-US" altLang="en-US" sz="1800">
              <a:latin typeface="Times New Roman" panose="02020603050405020304" pitchFamily="18" charset="0"/>
              <a:cs typeface="Times New Roman" panose="02020603050405020304" pitchFamily="18" charset="0"/>
            </a:endParaRPr>
          </a:p>
        </p:txBody>
      </p:sp>
      <p:grpSp>
        <p:nvGrpSpPr>
          <p:cNvPr id="5" name="Group 4"/>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0068"/>
            <a:ext cx="8229600" cy="1143000"/>
          </a:xfrm>
        </p:spPr>
        <p:txBody>
          <a:bodyPr/>
          <a:lstStyle/>
          <a:p>
            <a:r>
              <a:rPr lang="en-US" b="1" dirty="0">
                <a:latin typeface="Times New Roman" panose="02020603050405020304" pitchFamily="18" charset="0"/>
                <a:cs typeface="Times New Roman" panose="02020603050405020304" pitchFamily="18" charset="0"/>
                <a:sym typeface="+mn-ea"/>
              </a:rPr>
              <a:t>Class Diagram</a:t>
            </a:r>
            <a:endParaRPr lang="en-US"/>
          </a:p>
        </p:txBody>
      </p:sp>
      <p:pic>
        <p:nvPicPr>
          <p:cNvPr id="4" name="Content Placeholder 3"/>
          <p:cNvPicPr>
            <a:picLocks noGrp="1" noChangeAspect="1"/>
          </p:cNvPicPr>
          <p:nvPr>
            <p:ph idx="1"/>
          </p:nvPr>
        </p:nvPicPr>
        <p:blipFill>
          <a:blip r:embed="rId2"/>
          <a:stretch>
            <a:fillRect/>
          </a:stretch>
        </p:blipFill>
        <p:spPr>
          <a:xfrm>
            <a:off x="4424680" y="1607820"/>
            <a:ext cx="4408170" cy="4556760"/>
          </a:xfrm>
          <a:prstGeom prst="rect">
            <a:avLst/>
          </a:prstGeom>
        </p:spPr>
      </p:pic>
      <p:sp>
        <p:nvSpPr>
          <p:cNvPr id="5" name="Text Box 4"/>
          <p:cNvSpPr txBox="1"/>
          <p:nvPr/>
        </p:nvSpPr>
        <p:spPr>
          <a:xfrm>
            <a:off x="292735" y="1572260"/>
            <a:ext cx="3967480" cy="4839970"/>
          </a:xfrm>
          <a:prstGeom prst="rect">
            <a:avLst/>
          </a:prstGeom>
          <a:noFill/>
        </p:spPr>
        <p:txBody>
          <a:bodyPr wrap="square" rtlCol="0" anchor="t">
            <a:noAutofit/>
          </a:bodyPr>
          <a:lstStyle/>
          <a:p>
            <a:pPr algn="just"/>
            <a:r>
              <a:rPr lang="en-US" altLang="en-US" dirty="0">
                <a:latin typeface="Times New Roman" panose="02020603050405020304" pitchFamily="18" charset="0"/>
                <a:cs typeface="Times New Roman" panose="02020603050405020304" pitchFamily="18" charset="0"/>
                <a:sym typeface="+mn-ea"/>
              </a:rPr>
              <a:t>A class diagram for the </a:t>
            </a:r>
            <a:r>
              <a:rPr lang="en-IN" altLang="en-US" dirty="0">
                <a:latin typeface="Times New Roman" panose="02020603050405020304" pitchFamily="18" charset="0"/>
                <a:cs typeface="Times New Roman" panose="02020603050405020304" pitchFamily="18" charset="0"/>
                <a:sym typeface="+mn-ea"/>
              </a:rPr>
              <a:t>Letter </a:t>
            </a:r>
            <a:r>
              <a:rPr lang="en-US" altLang="en-US" dirty="0">
                <a:latin typeface="Times New Roman" panose="02020603050405020304" pitchFamily="18" charset="0"/>
                <a:cs typeface="Times New Roman" panose="02020603050405020304" pitchFamily="18" charset="0"/>
                <a:sym typeface="+mn-ea"/>
              </a:rPr>
              <a:t>Management System features User, Document, Folder, AccessControl, and VersionControl classes. The User class manages user information and operations such as login and document sharing. The Document class handles metadata, content storage, and version history. The Folder class organizes documents hierarchically. Access</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Control manages permissions like view/edit rights for each user, while Version</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Control ensures updates to documents are properly tracked. This structure facilitates secure, organized, and collaborative document handling in the system</a:t>
            </a:r>
            <a:r>
              <a:rPr lang="en-IN" altLang="en-US" dirty="0">
                <a:latin typeface="Times New Roman" panose="02020603050405020304" pitchFamily="18" charset="0"/>
                <a:cs typeface="Times New Roman" panose="02020603050405020304" pitchFamily="18" charset="0"/>
                <a:sym typeface="+mn-ea"/>
              </a:rPr>
              <a:t>.</a:t>
            </a:r>
          </a:p>
        </p:txBody>
      </p:sp>
      <p:grpSp>
        <p:nvGrpSpPr>
          <p:cNvPr id="6" name="Group 5"/>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5"/>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4193"/>
            <a:ext cx="8229600" cy="1143000"/>
          </a:xfrm>
        </p:spPr>
        <p:txBody>
          <a:bodyPr/>
          <a:lstStyle/>
          <a:p>
            <a:r>
              <a:rPr lang="en-IN" b="1" dirty="0">
                <a:latin typeface="Times New Roman" panose="02020603050405020304" pitchFamily="18" charset="0"/>
                <a:cs typeface="Times New Roman" panose="02020603050405020304" pitchFamily="18" charset="0"/>
                <a:sym typeface="+mn-ea"/>
              </a:rPr>
              <a:t>Use Case Diagram </a:t>
            </a:r>
            <a:endParaRPr lang="en-US"/>
          </a:p>
        </p:txBody>
      </p:sp>
      <p:sp>
        <p:nvSpPr>
          <p:cNvPr id="3" name="Content Placeholder 2"/>
          <p:cNvSpPr>
            <a:spLocks noGrp="1"/>
          </p:cNvSpPr>
          <p:nvPr>
            <p:ph idx="1"/>
          </p:nvPr>
        </p:nvSpPr>
        <p:spPr>
          <a:xfrm>
            <a:off x="396240" y="1417955"/>
            <a:ext cx="4572000" cy="4526280"/>
          </a:xfrm>
        </p:spPr>
        <p:txBody>
          <a:bodyPr>
            <a:noAutofit/>
          </a:bodyPr>
          <a:lstStyle/>
          <a:p>
            <a:pPr marL="0" indent="0" algn="just">
              <a:buNone/>
            </a:pPr>
            <a:r>
              <a:rPr lang="en-US" altLang="en-US" sz="1800" dirty="0">
                <a:latin typeface="Times New Roman" panose="02020603050405020304" pitchFamily="18" charset="0"/>
                <a:cs typeface="Times New Roman" panose="02020603050405020304" pitchFamily="18" charset="0"/>
              </a:rPr>
              <a:t>The key functionalities of the </a:t>
            </a:r>
            <a:r>
              <a:rPr lang="en-IN" altLang="en-US" sz="1800" dirty="0">
                <a:latin typeface="Times New Roman" panose="02020603050405020304" pitchFamily="18" charset="0"/>
                <a:cs typeface="Times New Roman" panose="02020603050405020304" pitchFamily="18" charset="0"/>
              </a:rPr>
              <a:t>Letter</a:t>
            </a:r>
            <a:r>
              <a:rPr lang="en-US" altLang="en-US" sz="1800" dirty="0">
                <a:latin typeface="Times New Roman" panose="02020603050405020304" pitchFamily="18" charset="0"/>
                <a:cs typeface="Times New Roman" panose="02020603050405020304" pitchFamily="18" charset="0"/>
              </a:rPr>
              <a:t> Management System, categorized by the roles of User, Group User, and </a:t>
            </a:r>
            <a:r>
              <a:rPr lang="en-US" altLang="en-US" sz="1800" dirty="0" err="1">
                <a:latin typeface="Times New Roman" panose="02020603050405020304" pitchFamily="18" charset="0"/>
                <a:cs typeface="Times New Roman" panose="02020603050405020304" pitchFamily="18" charset="0"/>
              </a:rPr>
              <a:t>Admin.For</a:t>
            </a:r>
            <a:r>
              <a:rPr lang="en-US" altLang="en-US" sz="1800" dirty="0">
                <a:latin typeface="Times New Roman" panose="02020603050405020304" pitchFamily="18" charset="0"/>
                <a:cs typeface="Times New Roman" panose="02020603050405020304" pitchFamily="18" charset="0"/>
              </a:rPr>
              <a:t> Users, the system offers essential document operations such as logging in, searching, viewing documents, creating folders and documents, as well as editing, deleting, renaming, and returning documents or folders. Users can also save changes and organize files efficiently within </a:t>
            </a:r>
            <a:r>
              <a:rPr lang="en-US" altLang="en-US" sz="1800" dirty="0" err="1">
                <a:latin typeface="Times New Roman" panose="02020603050405020304" pitchFamily="18" charset="0"/>
                <a:cs typeface="Times New Roman" panose="02020603050405020304" pitchFamily="18" charset="0"/>
              </a:rPr>
              <a:t>folders.Group</a:t>
            </a:r>
            <a:r>
              <a:rPr lang="en-US" altLang="en-US" sz="1800" dirty="0">
                <a:latin typeface="Times New Roman" panose="02020603050405020304" pitchFamily="18" charset="0"/>
                <a:cs typeface="Times New Roman" panose="02020603050405020304" pitchFamily="18" charset="0"/>
              </a:rPr>
              <a:t> Users can collaborate by entering shared groups, viewing group-specific document details, and adding comments to documents. This enhances communication and team-based document handling within shared </a:t>
            </a:r>
            <a:r>
              <a:rPr lang="en-US" altLang="en-US" sz="1800" dirty="0" err="1">
                <a:latin typeface="Times New Roman" panose="02020603050405020304" pitchFamily="18" charset="0"/>
                <a:cs typeface="Times New Roman" panose="02020603050405020304" pitchFamily="18" charset="0"/>
              </a:rPr>
              <a:t>workspaces.Admins</a:t>
            </a:r>
            <a:r>
              <a:rPr lang="en-US" altLang="en-US" sz="1800" dirty="0">
                <a:latin typeface="Times New Roman" panose="02020603050405020304" pitchFamily="18" charset="0"/>
                <a:cs typeface="Times New Roman" panose="02020603050405020304" pitchFamily="18" charset="0"/>
              </a:rPr>
              <a:t> have extended control, including creating user groups, adding users to groups, and managing permissions through adding or deleting access rights. .</a:t>
            </a:r>
          </a:p>
        </p:txBody>
      </p:sp>
      <p:pic>
        <p:nvPicPr>
          <p:cNvPr id="4" name="Picture 3"/>
          <p:cNvPicPr>
            <a:picLocks noChangeAspect="1"/>
          </p:cNvPicPr>
          <p:nvPr/>
        </p:nvPicPr>
        <p:blipFill>
          <a:blip r:embed="rId2"/>
          <a:stretch>
            <a:fillRect/>
          </a:stretch>
        </p:blipFill>
        <p:spPr>
          <a:xfrm>
            <a:off x="4967605" y="1529080"/>
            <a:ext cx="3946525" cy="4425950"/>
          </a:xfrm>
          <a:prstGeom prst="rect">
            <a:avLst/>
          </a:prstGeom>
        </p:spPr>
      </p:pic>
      <p:grpSp>
        <p:nvGrpSpPr>
          <p:cNvPr id="6" name="Group 5"/>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5"/>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5933"/>
            <a:ext cx="8229600" cy="1143000"/>
          </a:xfrm>
        </p:spPr>
        <p:txBody>
          <a:bodyPr/>
          <a:lstStyle/>
          <a:p>
            <a:r>
              <a:rPr lang="en-IN" b="1" dirty="0">
                <a:latin typeface="Times New Roman" panose="02020603050405020304" pitchFamily="18" charset="0"/>
                <a:cs typeface="Times New Roman" panose="02020603050405020304" pitchFamily="18" charset="0"/>
                <a:sym typeface="+mn-ea"/>
              </a:rPr>
              <a:t>Sequence Diagram </a:t>
            </a:r>
            <a:endParaRPr lang="en-US"/>
          </a:p>
        </p:txBody>
      </p:sp>
      <p:sp>
        <p:nvSpPr>
          <p:cNvPr id="3" name="Content Placeholder 2"/>
          <p:cNvSpPr>
            <a:spLocks noGrp="1"/>
          </p:cNvSpPr>
          <p:nvPr>
            <p:ph idx="1"/>
          </p:nvPr>
        </p:nvSpPr>
        <p:spPr>
          <a:xfrm>
            <a:off x="457200" y="1652270"/>
            <a:ext cx="3982720" cy="4637405"/>
          </a:xfrm>
        </p:spPr>
        <p:txBody>
          <a:bodyPr>
            <a:noAutofit/>
          </a:bodyPr>
          <a:lstStyle/>
          <a:p>
            <a:pPr marL="0" indent="0" algn="just">
              <a:buNone/>
            </a:pPr>
            <a:r>
              <a:rPr lang="en-US" altLang="en-US" sz="1800">
                <a:latin typeface="Times New Roman" panose="02020603050405020304" pitchFamily="18" charset="0"/>
                <a:cs typeface="Times New Roman" panose="02020603050405020304" pitchFamily="18" charset="0"/>
              </a:rPr>
              <a:t>The sequence of actions in the Letter Management System when a department official manages incoming letters. The process begins when the Department Official inputs login credentials. The System verifies these details and grants access. Upon successful login, the official can upload incoming documents, which are then registered and stored by the system.Once documents are uploaded, the official can view profiles, review documents, perform document-related actions, and forward them to the concerned section. </a:t>
            </a:r>
          </a:p>
        </p:txBody>
      </p:sp>
      <p:pic>
        <p:nvPicPr>
          <p:cNvPr id="4" name="Picture 3"/>
          <p:cNvPicPr>
            <a:picLocks noChangeAspect="1"/>
          </p:cNvPicPr>
          <p:nvPr/>
        </p:nvPicPr>
        <p:blipFill>
          <a:blip r:embed="rId2"/>
          <a:stretch>
            <a:fillRect/>
          </a:stretch>
        </p:blipFill>
        <p:spPr>
          <a:xfrm>
            <a:off x="4410075" y="1689100"/>
            <a:ext cx="4277360" cy="4595495"/>
          </a:xfrm>
          <a:prstGeom prst="rect">
            <a:avLst/>
          </a:prstGeom>
        </p:spPr>
      </p:pic>
      <p:grpSp>
        <p:nvGrpSpPr>
          <p:cNvPr id="6" name="Group 5"/>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5"/>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005" y="813246"/>
            <a:ext cx="7886700" cy="994172"/>
          </a:xfrm>
        </p:spPr>
        <p:txBody>
          <a:bodyPr>
            <a:normAutofit/>
          </a:bodyPr>
          <a:lstStyle/>
          <a:p>
            <a:pPr algn="ctr"/>
            <a:r>
              <a:rPr lang="en-US" b="1" dirty="0">
                <a:latin typeface="Times New Roman" panose="02020603050405020304" pitchFamily="18" charset="0"/>
                <a:cs typeface="Times New Roman" panose="02020603050405020304" pitchFamily="18" charset="0"/>
              </a:rPr>
              <a:t>Activity Diagram</a:t>
            </a:r>
          </a:p>
        </p:txBody>
      </p:sp>
      <p:pic>
        <p:nvPicPr>
          <p:cNvPr id="5" name="Content Placeholder 4"/>
          <p:cNvPicPr>
            <a:picLocks noGrp="1" noChangeAspect="1"/>
          </p:cNvPicPr>
          <p:nvPr>
            <p:ph idx="1"/>
          </p:nvPr>
        </p:nvPicPr>
        <p:blipFill>
          <a:blip r:embed="rId2"/>
          <a:stretch>
            <a:fillRect/>
          </a:stretch>
        </p:blipFill>
        <p:spPr>
          <a:xfrm>
            <a:off x="548004" y="1965728"/>
            <a:ext cx="2996294" cy="3563541"/>
          </a:xfrm>
        </p:spPr>
      </p:pic>
      <p:sp>
        <p:nvSpPr>
          <p:cNvPr id="6" name="TextBox 5"/>
          <p:cNvSpPr txBox="1"/>
          <p:nvPr/>
        </p:nvSpPr>
        <p:spPr>
          <a:xfrm>
            <a:off x="4572000" y="1655914"/>
            <a:ext cx="4051505" cy="3658870"/>
          </a:xfrm>
          <a:prstGeom prst="rect">
            <a:avLst/>
          </a:prstGeom>
          <a:noFill/>
        </p:spPr>
        <p:txBody>
          <a:bodyPr wrap="square" rtlCol="0">
            <a:noAutofit/>
          </a:bodyPr>
          <a:lstStyle/>
          <a:p>
            <a:pPr algn="just"/>
            <a:r>
              <a:rPr lang="en-US" altLang="en-US" dirty="0">
                <a:latin typeface="Times New Roman" panose="02020603050405020304" pitchFamily="18" charset="0"/>
                <a:cs typeface="Times New Roman" panose="02020603050405020304" pitchFamily="18" charset="0"/>
              </a:rPr>
              <a:t>The Letter Management System follows a structured process to manage documents from submission to approval. When a user submits a letter or document into the system, the system captures necessary metadata such as the title, submission date, and user details. The document is then added to a queue for review by an approver. Once the document is in the queue, the approver begins the review process. They evaluate the document based on predefined criteria such as completeness, accuracy, and other relevant standards. If the document meets the approval requirements, the approver has the option to either approve or reject the document. </a:t>
            </a:r>
          </a:p>
          <a:p>
            <a:pPr algn="just"/>
            <a:endParaRPr lang="en-US" altLang="en-US" dirty="0">
              <a:latin typeface="Times New Roman" panose="02020603050405020304" pitchFamily="18" charset="0"/>
              <a:cs typeface="Times New Roman" panose="02020603050405020304" pitchFamily="18" charset="0"/>
            </a:endParaRPr>
          </a:p>
        </p:txBody>
      </p:sp>
      <p:grpSp>
        <p:nvGrpSpPr>
          <p:cNvPr id="3" name="Group 2"/>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5"/>
            <a:stretch>
              <a:fillRect/>
            </a:stretch>
          </p:blipFill>
          <p:spPr>
            <a:xfrm>
              <a:off x="342900" y="160338"/>
              <a:ext cx="990600" cy="494982"/>
            </a:xfrm>
            <a:prstGeom prst="rect">
              <a:avLst/>
            </a:prstGeom>
          </p:spPr>
        </p:pic>
        <p:sp>
          <p:nvSpPr>
            <p:cNvPr id="9"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pic>
        <p:nvPicPr>
          <p:cNvPr id="4568" name="Picture 4568"/>
          <p:cNvPicPr/>
          <p:nvPr/>
        </p:nvPicPr>
        <p:blipFill>
          <a:blip r:embed="rId6"/>
          <a:stretch>
            <a:fillRect/>
          </a:stretch>
        </p:blipFill>
        <p:spPr>
          <a:xfrm>
            <a:off x="77470" y="1788795"/>
            <a:ext cx="4240530" cy="37604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57250"/>
            <a:ext cx="7886700" cy="994172"/>
          </a:xfrm>
        </p:spPr>
        <p:txBody>
          <a:bodyPr>
            <a:normAutofit/>
          </a:bodyPr>
          <a:lstStyle/>
          <a:p>
            <a:pPr algn="ctr"/>
            <a:r>
              <a:rPr lang="en-US" b="1" dirty="0">
                <a:latin typeface="Times New Roman" panose="02020603050405020304" pitchFamily="18" charset="0"/>
                <a:cs typeface="Times New Roman" panose="02020603050405020304" pitchFamily="18" charset="0"/>
              </a:rPr>
              <a:t>Architectural Design </a:t>
            </a:r>
          </a:p>
        </p:txBody>
      </p:sp>
      <p:grpSp>
        <p:nvGrpSpPr>
          <p:cNvPr id="3" name="Group 2"/>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pic>
        <p:nvPicPr>
          <p:cNvPr id="9" name="Picture 4808"/>
          <p:cNvPicPr/>
          <p:nvPr/>
        </p:nvPicPr>
        <p:blipFill>
          <a:blip r:embed="rId5"/>
          <a:stretch>
            <a:fillRect/>
          </a:stretch>
        </p:blipFill>
        <p:spPr>
          <a:xfrm>
            <a:off x="2477729" y="1851421"/>
            <a:ext cx="4317447" cy="458870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796290"/>
            <a:ext cx="7886700" cy="994172"/>
          </a:xfrm>
        </p:spPr>
        <p:txBody>
          <a:bodyPr/>
          <a:lstStyle/>
          <a:p>
            <a:pPr algn="ctr"/>
            <a:r>
              <a:rPr lang="en-US" b="1" dirty="0">
                <a:latin typeface="Times New Roman" panose="02020603050405020304" pitchFamily="18" charset="0"/>
                <a:cs typeface="Times New Roman" panose="02020603050405020304" pitchFamily="18" charset="0"/>
                <a:sym typeface="+mn-ea"/>
              </a:rPr>
              <a:t>Algorithm Design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851422"/>
            <a:ext cx="7886700" cy="3740060"/>
          </a:xfrm>
        </p:spPr>
        <p:txBody>
          <a:bodyPr>
            <a:noAutofit/>
          </a:bodyPr>
          <a:lstStyle/>
          <a:p>
            <a:pPr algn="just">
              <a:lnSpc>
                <a:spcPct val="100000"/>
              </a:lnSpc>
              <a:spcAft>
                <a:spcPts val="800"/>
              </a:spcAft>
              <a:buNone/>
            </a:pPr>
            <a:r>
              <a:rPr lang="en-US" altLang="en-US" sz="1600" b="1" dirty="0">
                <a:latin typeface="Times New Roman" panose="02020603050405020304" pitchFamily="18" charset="0"/>
                <a:cs typeface="Times New Roman" panose="02020603050405020304" pitchFamily="18" charset="0"/>
              </a:rPr>
              <a:t>Step 1: Input and Initialization </a:t>
            </a:r>
          </a:p>
          <a:p>
            <a:pPr algn="just">
              <a:lnSpc>
                <a:spcPct val="100000"/>
              </a:lnSpc>
              <a:spcAft>
                <a:spcPts val="800"/>
              </a:spcAft>
              <a:buNone/>
            </a:pPr>
            <a:r>
              <a:rPr lang="en-US" altLang="en-US" sz="1600" dirty="0">
                <a:latin typeface="Times New Roman" panose="02020603050405020304" pitchFamily="18" charset="0"/>
                <a:cs typeface="Times New Roman" panose="02020603050405020304" pitchFamily="18" charset="0"/>
              </a:rPr>
              <a:t>•	Step  1.1: Start the system. </a:t>
            </a:r>
          </a:p>
          <a:p>
            <a:pPr algn="just">
              <a:lnSpc>
                <a:spcPct val="100000"/>
              </a:lnSpc>
              <a:spcAft>
                <a:spcPts val="800"/>
              </a:spcAft>
              <a:buNone/>
            </a:pPr>
            <a:r>
              <a:rPr lang="en-US" altLang="en-US" sz="1600" dirty="0">
                <a:latin typeface="Times New Roman" panose="02020603050405020304" pitchFamily="18" charset="0"/>
                <a:cs typeface="Times New Roman" panose="02020603050405020304" pitchFamily="18" charset="0"/>
              </a:rPr>
              <a:t>•	Step 1.2: Initialize letter management system components (user interfaces, databases, communication systems). </a:t>
            </a:r>
          </a:p>
          <a:p>
            <a:pPr algn="just">
              <a:lnSpc>
                <a:spcPct val="100000"/>
              </a:lnSpc>
              <a:spcAft>
                <a:spcPts val="800"/>
              </a:spcAft>
              <a:buNone/>
            </a:pPr>
            <a:r>
              <a:rPr lang="en-US" altLang="en-US" sz="1600" dirty="0">
                <a:latin typeface="Times New Roman" panose="02020603050405020304" pitchFamily="18" charset="0"/>
                <a:cs typeface="Times New Roman" panose="02020603050405020304" pitchFamily="18" charset="0"/>
              </a:rPr>
              <a:t>•	Step  1.3: Establish connection between user inputs and the letter management database. </a:t>
            </a:r>
          </a:p>
          <a:p>
            <a:pPr algn="just">
              <a:lnSpc>
                <a:spcPct val="100000"/>
              </a:lnSpc>
              <a:spcAft>
                <a:spcPts val="800"/>
              </a:spcAft>
              <a:buNone/>
            </a:pPr>
            <a:r>
              <a:rPr lang="en-US" altLang="en-US" sz="1600" dirty="0">
                <a:latin typeface="Times New Roman" panose="02020603050405020304" pitchFamily="18" charset="0"/>
                <a:cs typeface="Times New Roman" panose="02020603050405020304" pitchFamily="18" charset="0"/>
              </a:rPr>
              <a:t>•	Step 1.4: Configure system for letter processing (sorting, assigning to departments). </a:t>
            </a:r>
          </a:p>
          <a:p>
            <a:pPr algn="just">
              <a:lnSpc>
                <a:spcPct val="100000"/>
              </a:lnSpc>
              <a:spcAft>
                <a:spcPts val="800"/>
              </a:spcAft>
              <a:buNone/>
            </a:pPr>
            <a:r>
              <a:rPr lang="en-US" altLang="en-US" sz="1600" dirty="0">
                <a:latin typeface="Times New Roman" panose="02020603050405020304" pitchFamily="18" charset="0"/>
                <a:cs typeface="Times New Roman" panose="02020603050405020304" pitchFamily="18" charset="0"/>
              </a:rPr>
              <a:t>•	Step  1.5: Set up user notifications for letter status updates (e.g., dispatched, received, viewed). </a:t>
            </a:r>
          </a:p>
          <a:p>
            <a:pPr marL="0" indent="0">
              <a:lnSpc>
                <a:spcPct val="100000"/>
              </a:lnSpc>
              <a:buNone/>
            </a:pPr>
            <a:endParaRPr lang="en-US" altLang="en-US" sz="1600"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061346"/>
            <a:ext cx="7886700" cy="4530137"/>
          </a:xfrm>
        </p:spPr>
        <p:txBody>
          <a:bodyPr>
            <a:noAutofit/>
          </a:bodyPr>
          <a:lstStyle/>
          <a:p>
            <a:pPr algn="just">
              <a:lnSpc>
                <a:spcPct val="120000"/>
              </a:lnSpc>
              <a:spcAft>
                <a:spcPts val="800"/>
              </a:spcAft>
              <a:buNone/>
            </a:pPr>
            <a:r>
              <a:rPr lang="en-US" sz="1600" b="1" kern="100" dirty="0">
                <a:effectLst/>
                <a:latin typeface="Times New Roman" panose="02020603050405020304" pitchFamily="18" charset="0"/>
                <a:ea typeface="DengXian" panose="02010600030101010101" pitchFamily="2" charset="-122"/>
                <a:cs typeface="Times New Roman" panose="02020603050405020304" pitchFamily="18" charset="0"/>
              </a:rPr>
              <a:t>Step 2:</a:t>
            </a:r>
            <a:r>
              <a:rPr lang="en-IN" altLang="en-US" sz="1600" b="1"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US" altLang="en-US" sz="1600" b="1" kern="100" dirty="0">
                <a:effectLst/>
                <a:latin typeface="Times New Roman" panose="02020603050405020304" pitchFamily="18" charset="0"/>
                <a:ea typeface="DengXian" panose="02010600030101010101" pitchFamily="2" charset="-122"/>
                <a:cs typeface="Times New Roman" panose="02020603050405020304" pitchFamily="18" charset="0"/>
              </a:rPr>
              <a:t>Letter Submission (User Interaction) </a:t>
            </a:r>
            <a:endParaRPr lang="en-US" altLang="en-US" sz="1600" kern="1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Step  2.1: User creates a letter in the system, providing necessary details (sender, recipient, subject, content).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Step 2.2: Validate input fields (e.g., check for missing data, verify recipient information).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kern="100" dirty="0">
                <a:effectLst/>
                <a:latin typeface="Times New Roman" panose="02020603050405020304" pitchFamily="18" charset="0"/>
                <a:ea typeface="DengXian" panose="02010600030101010101" pitchFamily="2" charset="-122"/>
                <a:cs typeface="Times New Roman" panose="02020603050405020304" pitchFamily="18" charset="0"/>
              </a:rPr>
              <a:t>Step  2.3: Submit the letter to the system for processing and store it in the letter database. </a:t>
            </a:r>
          </a:p>
          <a:p>
            <a:pPr marL="0" lvl="0" indent="0" algn="just">
              <a:lnSpc>
                <a:spcPct val="120000"/>
              </a:lnSpc>
              <a:spcAft>
                <a:spcPts val="800"/>
              </a:spcAft>
              <a:buSzPts val="1000"/>
              <a:buFont typeface="Symbol" panose="05050102010706020507" pitchFamily="18" charset="2"/>
              <a:buNone/>
              <a:tabLst>
                <a:tab pos="457200" algn="l"/>
              </a:tabLst>
            </a:pPr>
            <a:r>
              <a:rPr lang="en-US" altLang="en-US" sz="1600" b="1" dirty="0">
                <a:latin typeface="Times New Roman" panose="02020603050405020304" pitchFamily="18" charset="0"/>
                <a:cs typeface="Times New Roman" panose="02020603050405020304" pitchFamily="18" charset="0"/>
                <a:sym typeface="+mn-ea"/>
              </a:rPr>
              <a:t>Step 3: Letter Sorting and Assignment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sym typeface="+mn-ea"/>
              </a:rPr>
              <a:t>Step 3.1: After letter submission, sort the letter based on its category (e.g., urgent, standard).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sym typeface="+mn-ea"/>
              </a:rPr>
              <a:t>Step 3.2: Assign letter to appropriate department or user based on letter type.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sym typeface="+mn-ea"/>
              </a:rPr>
              <a:t>Step 3.3: Generate a unique identifier (ID) for tracking the letter.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sym typeface="+mn-ea"/>
              </a:rPr>
              <a:t>Step 3.4: Store the letter in the appropriate section of the database, updating its status to "In-Process."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endParaRPr lang="en-US" altLang="en-US" sz="1600" kern="1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endParaRPr lang="en-US" altLang="en-US" sz="1600" kern="100" dirty="0">
              <a:effectLst/>
              <a:latin typeface="Times New Roman" panose="02020603050405020304" pitchFamily="18" charset="0"/>
              <a:ea typeface="DengXian" panose="02010600030101010101" pitchFamily="2" charset="-122"/>
              <a:cs typeface="Times New Roman" panose="02020603050405020304" pitchFamily="18" charset="0"/>
            </a:endParaRPr>
          </a:p>
        </p:txBody>
      </p:sp>
      <p:grpSp>
        <p:nvGrpSpPr>
          <p:cNvPr id="4" name="Group 3"/>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18586"/>
            <a:ext cx="7886700" cy="4271387"/>
          </a:xfrm>
        </p:spPr>
        <p:txBody>
          <a:bodyPr>
            <a:noAutofit/>
          </a:bodyPr>
          <a:lstStyle/>
          <a:p>
            <a:pPr marL="0" lvl="0" indent="0" algn="just">
              <a:lnSpc>
                <a:spcPct val="120000"/>
              </a:lnSpc>
              <a:spcAft>
                <a:spcPts val="800"/>
              </a:spcAft>
              <a:buSzPts val="1000"/>
              <a:buFont typeface="Symbol" panose="05050102010706020507" pitchFamily="18" charset="2"/>
              <a:buNone/>
              <a:tabLst>
                <a:tab pos="457200" algn="l"/>
              </a:tabLst>
            </a:pPr>
            <a:r>
              <a:rPr lang="en-IN"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Step 4: Status Update (Letter Progression)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rPr>
              <a:t>Step  4.1: After sorting and assignment, the system updates the letter's status (e.g., "Assigned," "In Review," "Awaiting Approval").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rPr>
              <a:t>Step 4.2: The system triggers automatic notifications to relevant users (e.g., recipient, admin).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rPr>
              <a:t>Step  4.3: Monitor the letter's status progression until it reaches completion (e.g., "Delivered," "Read").</a:t>
            </a:r>
          </a:p>
          <a:p>
            <a:pPr marL="0" lvl="0" indent="0" algn="just">
              <a:lnSpc>
                <a:spcPct val="120000"/>
              </a:lnSpc>
              <a:spcAft>
                <a:spcPts val="800"/>
              </a:spcAft>
              <a:buSzPts val="1000"/>
              <a:buFont typeface="Symbol" panose="05050102010706020507" pitchFamily="18" charset="2"/>
              <a:buNone/>
              <a:tabLst>
                <a:tab pos="457200" algn="l"/>
              </a:tabLst>
            </a:pPr>
            <a:r>
              <a:rPr lang="en-IN" altLang="en-US" sz="1600" dirty="0">
                <a:latin typeface="Times New Roman" panose="02020603050405020304" pitchFamily="18" charset="0"/>
                <a:cs typeface="Times New Roman" panose="02020603050405020304" pitchFamily="18" charset="0"/>
              </a:rPr>
              <a:t>   </a:t>
            </a:r>
            <a:r>
              <a:rPr lang="en-IN" altLang="en-US" sz="1600" b="1"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Step 5: Letter Delivery and Notification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rPr>
              <a:t>Step 5.1: Once the letter is delivered to the recipient, the system updates the letter’s status to "Delivered."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rPr>
              <a:t>Step 5.2: A notification is sent to the sender and recipient confirming the letter’s successful delivery.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rPr>
              <a:t>Step 5.3: If the letter requires action from the recipient (e.g., acknowledgment, signature), the system triggers an action reminder. </a:t>
            </a:r>
          </a:p>
          <a:p>
            <a:pPr marL="0" lvl="0" indent="0" algn="just">
              <a:lnSpc>
                <a:spcPct val="120000"/>
              </a:lnSpc>
              <a:spcAft>
                <a:spcPts val="800"/>
              </a:spcAft>
              <a:buSzPts val="1000"/>
              <a:buFont typeface="Symbol" panose="05050102010706020507" pitchFamily="18" charset="2"/>
              <a:buNone/>
              <a:tabLst>
                <a:tab pos="457200" algn="l"/>
              </a:tabLst>
            </a:pPr>
            <a:r>
              <a:rPr lang="en-IN" altLang="en-US" sz="1600" dirty="0">
                <a:latin typeface="Times New Roman" panose="02020603050405020304" pitchFamily="18" charset="0"/>
                <a:cs typeface="Times New Roman" panose="02020603050405020304" pitchFamily="18" charset="0"/>
              </a:rPr>
              <a:t>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endParaRPr lang="en-US" altLang="en-US" sz="1600" dirty="0">
              <a:latin typeface="Times New Roman" panose="02020603050405020304" pitchFamily="18" charset="0"/>
              <a:cs typeface="Times New Roman" panose="02020603050405020304" pitchFamily="18" charset="0"/>
            </a:endParaRPr>
          </a:p>
          <a:p>
            <a:endParaRPr lang="en-US" altLang="en-US" sz="1600"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144844"/>
            <a:ext cx="7886700" cy="4409768"/>
          </a:xfrm>
        </p:spPr>
        <p:txBody>
          <a:bodyPr>
            <a:noAutofit/>
          </a:bodyPr>
          <a:lstStyle/>
          <a:p>
            <a:pPr marL="0" lvl="0" indent="0" algn="just">
              <a:lnSpc>
                <a:spcPct val="120000"/>
              </a:lnSpc>
              <a:spcAft>
                <a:spcPts val="800"/>
              </a:spcAft>
              <a:buSzPts val="1000"/>
              <a:buFont typeface="Symbol" panose="05050102010706020507" pitchFamily="18" charset="2"/>
              <a:buNone/>
              <a:tabLst>
                <a:tab pos="457200" algn="l"/>
              </a:tabLst>
            </a:pPr>
            <a:r>
              <a:rPr lang="en-US" altLang="en-US" sz="1600" dirty="0">
                <a:latin typeface="Times New Roman" panose="02020603050405020304" pitchFamily="18" charset="0"/>
                <a:cs typeface="Times New Roman" panose="02020603050405020304" pitchFamily="18" charset="0"/>
                <a:sym typeface="+mn-ea"/>
              </a:rPr>
              <a:t>S</a:t>
            </a:r>
            <a:r>
              <a:rPr lang="en-US" altLang="en-US" sz="1600" b="1" dirty="0">
                <a:latin typeface="Times New Roman" panose="02020603050405020304" pitchFamily="18" charset="0"/>
                <a:cs typeface="Times New Roman" panose="02020603050405020304" pitchFamily="18" charset="0"/>
                <a:sym typeface="+mn-ea"/>
              </a:rPr>
              <a:t>tep 6: Letter Tracking and History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sym typeface="+mn-ea"/>
              </a:rPr>
              <a:t>Step 6.1: After delivery, the letter’s history (e.g., timestamps, department handling, delivery details) is stored in the database.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IN" altLang="en-US" sz="1600" dirty="0">
                <a:latin typeface="Times New Roman" panose="02020603050405020304" pitchFamily="18" charset="0"/>
                <a:cs typeface="Times New Roman" panose="02020603050405020304" pitchFamily="18" charset="0"/>
                <a:sym typeface="+mn-ea"/>
              </a:rPr>
              <a:t>S</a:t>
            </a:r>
            <a:r>
              <a:rPr lang="en-US" altLang="en-US" sz="1600" dirty="0">
                <a:latin typeface="Times New Roman" panose="02020603050405020304" pitchFamily="18" charset="0"/>
                <a:cs typeface="Times New Roman" panose="02020603050405020304" pitchFamily="18" charset="0"/>
                <a:sym typeface="+mn-ea"/>
              </a:rPr>
              <a:t>tep  6.2: Users can view the letter’s full history and its current status in the system at any time. </a:t>
            </a:r>
            <a:endParaRPr lang="en-US" altLang="en-US" sz="1600" dirty="0">
              <a:latin typeface="Times New Roman" panose="02020603050405020304" pitchFamily="18" charset="0"/>
              <a:cs typeface="Times New Roman" panose="02020603050405020304" pitchFamily="18" charset="0"/>
            </a:endParaRP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dirty="0">
                <a:latin typeface="Times New Roman" panose="02020603050405020304" pitchFamily="18" charset="0"/>
                <a:cs typeface="Times New Roman" panose="02020603050405020304" pitchFamily="18" charset="0"/>
                <a:sym typeface="+mn-ea"/>
              </a:rPr>
              <a:t>Step  6.3: The system provides real-time tracking updates to both senders and recipients regarding any progress made on the letter.</a:t>
            </a:r>
          </a:p>
          <a:p>
            <a:pPr marL="0" lvl="0" indent="0" algn="just">
              <a:lnSpc>
                <a:spcPct val="120000"/>
              </a:lnSpc>
              <a:spcAft>
                <a:spcPts val="800"/>
              </a:spcAft>
              <a:buSzPts val="1000"/>
              <a:buFont typeface="Symbol" panose="05050102010706020507" pitchFamily="18" charset="2"/>
              <a:buNone/>
              <a:tabLst>
                <a:tab pos="457200" algn="l"/>
              </a:tabLst>
            </a:pPr>
            <a:r>
              <a:rPr lang="en-US" altLang="en-US" sz="1600" b="1" kern="100" dirty="0">
                <a:latin typeface="Times New Roman" panose="02020603050405020304" pitchFamily="18" charset="0"/>
                <a:ea typeface="DengXian" panose="02010600030101010101" pitchFamily="2" charset="-122"/>
                <a:cs typeface="Times New Roman" panose="02020603050405020304" pitchFamily="18" charset="0"/>
              </a:rPr>
              <a:t>Step 7: Finalization and Closure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kern="100" dirty="0">
                <a:latin typeface="Times New Roman" panose="02020603050405020304" pitchFamily="18" charset="0"/>
                <a:ea typeface="DengXian" panose="02010600030101010101" pitchFamily="2" charset="-122"/>
                <a:cs typeface="Times New Roman" panose="02020603050405020304" pitchFamily="18" charset="0"/>
              </a:rPr>
              <a:t>Step 7.1: Once the recipient has completed required actions (e.g., acknowledgment), update the letter status to "Closed."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kern="100" dirty="0">
                <a:latin typeface="Times New Roman" panose="02020603050405020304" pitchFamily="18" charset="0"/>
                <a:ea typeface="DengXian" panose="02010600030101010101" pitchFamily="2" charset="-122"/>
                <a:cs typeface="Times New Roman" panose="02020603050405020304" pitchFamily="18" charset="0"/>
              </a:rPr>
              <a:t>Step  7.2: Notify the sender and recipient that the process is complete, and the letter has been closed.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600" kern="100" dirty="0">
                <a:latin typeface="Times New Roman" panose="02020603050405020304" pitchFamily="18" charset="0"/>
                <a:ea typeface="DengXian" panose="02010600030101010101" pitchFamily="2" charset="-122"/>
                <a:cs typeface="Times New Roman" panose="02020603050405020304" pitchFamily="18" charset="0"/>
              </a:rPr>
              <a:t>Step  </a:t>
            </a:r>
            <a:r>
              <a:rPr lang="en-IN" altLang="en-US" sz="1600" kern="100" dirty="0">
                <a:latin typeface="Times New Roman" panose="02020603050405020304" pitchFamily="18" charset="0"/>
                <a:ea typeface="DengXian" panose="02010600030101010101" pitchFamily="2" charset="-122"/>
                <a:cs typeface="Times New Roman" panose="02020603050405020304" pitchFamily="18" charset="0"/>
              </a:rPr>
              <a:t>7</a:t>
            </a:r>
            <a:r>
              <a:rPr lang="en-US" altLang="en-US" sz="1600" kern="100" dirty="0">
                <a:latin typeface="Times New Roman" panose="02020603050405020304" pitchFamily="18" charset="0"/>
                <a:ea typeface="DengXian" panose="02010600030101010101" pitchFamily="2" charset="-122"/>
                <a:cs typeface="Times New Roman" panose="02020603050405020304" pitchFamily="18" charset="0"/>
              </a:rPr>
              <a:t>.3: The letter is archived for future reference or record-keeping. </a:t>
            </a:r>
          </a:p>
          <a:p>
            <a:pPr marL="342900" lvl="0" indent="-342900" algn="just">
              <a:lnSpc>
                <a:spcPct val="120000"/>
              </a:lnSpc>
              <a:spcAft>
                <a:spcPts val="800"/>
              </a:spcAft>
              <a:buSzPts val="1000"/>
              <a:buFont typeface="Symbol" panose="05050102010706020507" pitchFamily="18" charset="2"/>
              <a:buChar char=""/>
              <a:tabLst>
                <a:tab pos="457200" algn="l"/>
              </a:tabLst>
            </a:pPr>
            <a:endParaRPr lang="en-US" altLang="en-US" sz="1600" kern="100" dirty="0">
              <a:latin typeface="Times New Roman" panose="02020603050405020304" pitchFamily="18" charset="0"/>
              <a:ea typeface="DengXian" panose="02010600030101010101" pitchFamily="2" charset="-122"/>
              <a:cs typeface="Times New Roman" panose="02020603050405020304" pitchFamily="18" charset="0"/>
            </a:endParaRPr>
          </a:p>
        </p:txBody>
      </p:sp>
      <p:grpSp>
        <p:nvGrpSpPr>
          <p:cNvPr id="4" name="Group 3"/>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7031" y="1143000"/>
            <a:ext cx="7886700" cy="4572000"/>
          </a:xfrm>
        </p:spPr>
        <p:txBody>
          <a:bodyPr>
            <a:noAutofit/>
          </a:bodyPr>
          <a:lstStyle/>
          <a:p>
            <a:pPr marL="0" lvl="0" indent="0" algn="just">
              <a:lnSpc>
                <a:spcPct val="120000"/>
              </a:lnSpc>
              <a:spcAft>
                <a:spcPts val="800"/>
              </a:spcAft>
              <a:buSzPts val="1000"/>
              <a:buFont typeface="Symbol" panose="05050102010706020507" pitchFamily="18" charset="2"/>
              <a:buNone/>
              <a:tabLst>
                <a:tab pos="457200" algn="l"/>
              </a:tabLst>
            </a:pPr>
            <a:r>
              <a:rPr lang="en-US" altLang="en-US" sz="1500" b="1" kern="100" dirty="0">
                <a:effectLst/>
                <a:latin typeface="Times New Roman" panose="02020603050405020304" pitchFamily="18" charset="0"/>
                <a:ea typeface="DengXian" panose="02010600030101010101" pitchFamily="2" charset="-122"/>
                <a:cs typeface="Times New Roman" panose="02020603050405020304" pitchFamily="18" charset="0"/>
              </a:rPr>
              <a:t>Step 8: Stop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rPr>
              <a:t>Step 8.1: Stop when all processes are complete: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rPr>
              <a:t>Document uploads are validated and securely stored.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rPr>
              <a:t>Document classification and metadata tagging are finalized.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rPr>
              <a:t>Search and retrieval processes are completed.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rPr>
              <a:t>Approval workflows are executed and updated. </a:t>
            </a:r>
          </a:p>
          <a:p>
            <a:pPr marL="342900" lvl="0" indent="-342900" algn="just">
              <a:lnSpc>
                <a:spcPct val="120000"/>
              </a:lnSpc>
              <a:spcAft>
                <a:spcPts val="800"/>
              </a:spcAft>
              <a:buSzPts val="1000"/>
              <a:buFont typeface="Symbol" panose="05050102010706020507" pitchFamily="18" charset="2"/>
              <a:buChar char=""/>
              <a:tabLst>
                <a:tab pos="457200" algn="l"/>
              </a:tabLst>
            </a:pPr>
            <a:r>
              <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rPr>
              <a:t>Audit trails and activity logs are securely stored. </a:t>
            </a:r>
          </a:p>
          <a:p>
            <a:pPr marL="342900" lvl="0" indent="-342900" algn="just">
              <a:lnSpc>
                <a:spcPct val="120000"/>
              </a:lnSpc>
              <a:spcAft>
                <a:spcPts val="800"/>
              </a:spcAft>
              <a:buSzPts val="1000"/>
              <a:buFont typeface="Symbol" panose="05050102010706020507" pitchFamily="18" charset="2"/>
              <a:buChar char=""/>
              <a:tabLst>
                <a:tab pos="457200" algn="l"/>
              </a:tabLst>
            </a:pPr>
            <a:endParaRPr lang="en-US" altLang="en-US" sz="1500" kern="100" dirty="0">
              <a:effectLst/>
              <a:latin typeface="Times New Roman" panose="02020603050405020304" pitchFamily="18" charset="0"/>
              <a:ea typeface="DengXian" panose="02010600030101010101" pitchFamily="2" charset="-122"/>
              <a:cs typeface="Times New Roman" panose="02020603050405020304" pitchFamily="18" charset="0"/>
            </a:endParaRPr>
          </a:p>
        </p:txBody>
      </p:sp>
      <p:grpSp>
        <p:nvGrpSpPr>
          <p:cNvPr id="4" name="Group 3"/>
          <p:cNvGrpSpPr/>
          <p:nvPr/>
        </p:nvGrpSpPr>
        <p:grpSpPr>
          <a:xfrm>
            <a:off x="342900" y="71120"/>
            <a:ext cx="8719931" cy="1003300"/>
            <a:chOff x="342900" y="71120"/>
            <a:chExt cx="8719931" cy="1003300"/>
          </a:xfrm>
        </p:grpSpPr>
        <p:pic>
          <p:nvPicPr>
            <p:cNvPr id="7"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4"/>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3640290" y="5675858"/>
            <a:ext cx="2103834" cy="47148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latin typeface="Times New Roman" panose="02020603050405020304" pitchFamily="18" charset="0"/>
                <a:cs typeface="Times New Roman" panose="02020603050405020304" pitchFamily="18" charset="0"/>
              </a:rPr>
              <a:t>Login page</a:t>
            </a:r>
            <a:endParaRPr lang="en-IN" sz="15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499870" y="909955"/>
            <a:ext cx="6033135" cy="768350"/>
          </a:xfrm>
          <a:prstGeom prst="rect">
            <a:avLst/>
          </a:prstGeom>
          <a:noFill/>
        </p:spPr>
        <p:txBody>
          <a:bodyPr wrap="square" rtlCol="0">
            <a:spAutoFit/>
          </a:bodyPr>
          <a:lstStyle/>
          <a:p>
            <a:r>
              <a:rPr lang="en-IN" altLang="en-US" sz="4400" b="1"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Output Screens</a:t>
            </a:r>
          </a:p>
        </p:txBody>
      </p:sp>
      <p:pic>
        <p:nvPicPr>
          <p:cNvPr id="6365" name="Picture 6365"/>
          <p:cNvPicPr/>
          <p:nvPr/>
        </p:nvPicPr>
        <p:blipFill>
          <a:blip r:embed="rId2"/>
          <a:stretch>
            <a:fillRect/>
          </a:stretch>
        </p:blipFill>
        <p:spPr>
          <a:xfrm>
            <a:off x="1499870" y="1830070"/>
            <a:ext cx="6019800" cy="3845560"/>
          </a:xfrm>
          <a:prstGeom prst="rect">
            <a:avLst/>
          </a:prstGeom>
        </p:spPr>
      </p:pic>
      <p:grpSp>
        <p:nvGrpSpPr>
          <p:cNvPr id="4" name="Group 3"/>
          <p:cNvGrpSpPr/>
          <p:nvPr/>
        </p:nvGrpSpPr>
        <p:grpSpPr>
          <a:xfrm>
            <a:off x="342900" y="93980"/>
            <a:ext cx="8719931" cy="1003300"/>
            <a:chOff x="342900" y="71120"/>
            <a:chExt cx="8719931" cy="1003300"/>
          </a:xfrm>
        </p:grpSpPr>
        <p:pic>
          <p:nvPicPr>
            <p:cNvPr id="3"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5"/>
            <a:stretch>
              <a:fillRect/>
            </a:stretch>
          </p:blipFill>
          <p:spPr>
            <a:xfrm>
              <a:off x="342900" y="160338"/>
              <a:ext cx="990600" cy="494982"/>
            </a:xfrm>
            <a:prstGeom prst="rect">
              <a:avLst/>
            </a:prstGeom>
          </p:spPr>
        </p:pic>
        <p:sp>
          <p:nvSpPr>
            <p:cNvPr id="5"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808791" y="5107943"/>
            <a:ext cx="3089672" cy="47148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b="1" dirty="0">
                <a:latin typeface="Times New Roman" panose="02020603050405020304" pitchFamily="18" charset="0"/>
                <a:cs typeface="Times New Roman" panose="02020603050405020304" pitchFamily="18" charset="0"/>
              </a:rPr>
              <a:t>Home Screen</a:t>
            </a:r>
          </a:p>
        </p:txBody>
      </p:sp>
      <p:sp>
        <p:nvSpPr>
          <p:cNvPr id="9" name="Rectangle 8"/>
          <p:cNvSpPr/>
          <p:nvPr/>
        </p:nvSpPr>
        <p:spPr>
          <a:xfrm>
            <a:off x="5103289" y="5046983"/>
            <a:ext cx="3089672" cy="47148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350" b="1" dirty="0">
              <a:latin typeface="Times New Roman" panose="02020603050405020304" pitchFamily="18" charset="0"/>
              <a:cs typeface="Times New Roman" panose="02020603050405020304" pitchFamily="18" charset="0"/>
            </a:endParaRPr>
          </a:p>
        </p:txBody>
      </p:sp>
      <p:pic>
        <p:nvPicPr>
          <p:cNvPr id="6367" name="Picture 6367"/>
          <p:cNvPicPr/>
          <p:nvPr/>
        </p:nvPicPr>
        <p:blipFill>
          <a:blip r:embed="rId2"/>
          <a:stretch>
            <a:fillRect/>
          </a:stretch>
        </p:blipFill>
        <p:spPr>
          <a:xfrm>
            <a:off x="533400" y="1348740"/>
            <a:ext cx="7949565" cy="3549650"/>
          </a:xfrm>
          <a:prstGeom prst="rect">
            <a:avLst/>
          </a:prstGeom>
        </p:spPr>
      </p:pic>
      <p:grpSp>
        <p:nvGrpSpPr>
          <p:cNvPr id="18" name="Group 17"/>
          <p:cNvGrpSpPr/>
          <p:nvPr/>
        </p:nvGrpSpPr>
        <p:grpSpPr>
          <a:xfrm>
            <a:off x="342900" y="71120"/>
            <a:ext cx="8719931" cy="1003300"/>
            <a:chOff x="342900" y="71120"/>
            <a:chExt cx="8719931" cy="1003300"/>
          </a:xfrm>
        </p:grpSpPr>
        <p:pic>
          <p:nvPicPr>
            <p:cNvPr id="19" name="Picture 2" descr="Lakshmi Siva Jyoti is the new Additional Commissioner of Guntur Municipal  Corporation"/>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p:nvPr/>
          </p:nvPicPr>
          <p:blipFill>
            <a:blip r:embed="rId5"/>
            <a:stretch>
              <a:fillRect/>
            </a:stretch>
          </p:blipFill>
          <p:spPr>
            <a:xfrm>
              <a:off x="342900" y="160338"/>
              <a:ext cx="990600" cy="494982"/>
            </a:xfrm>
            <a:prstGeom prst="rect">
              <a:avLst/>
            </a:prstGeom>
          </p:spPr>
        </p:pic>
        <p:sp>
          <p:nvSpPr>
            <p:cNvPr id="21"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419" y="1213103"/>
            <a:ext cx="4443412" cy="3924866"/>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5787" y="1213103"/>
            <a:ext cx="4089794" cy="3924866"/>
          </a:xfrm>
          <a:prstGeom prst="rect">
            <a:avLst/>
          </a:prstGeom>
        </p:spPr>
      </p:pic>
      <p:sp>
        <p:nvSpPr>
          <p:cNvPr id="8" name="Rectangle 7"/>
          <p:cNvSpPr/>
          <p:nvPr/>
        </p:nvSpPr>
        <p:spPr>
          <a:xfrm>
            <a:off x="866468" y="5224568"/>
            <a:ext cx="3089672" cy="47148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1500" b="1" dirty="0">
                <a:latin typeface="Times New Roman" panose="02020603050405020304" pitchFamily="18" charset="0"/>
                <a:cs typeface="Times New Roman" panose="02020603050405020304" pitchFamily="18" charset="0"/>
              </a:rPr>
              <a:t>Search &amp; Filter Page </a:t>
            </a:r>
          </a:p>
        </p:txBody>
      </p:sp>
      <p:sp>
        <p:nvSpPr>
          <p:cNvPr id="9" name="Rectangle 8"/>
          <p:cNvSpPr/>
          <p:nvPr/>
        </p:nvSpPr>
        <p:spPr>
          <a:xfrm>
            <a:off x="5512326" y="5224568"/>
            <a:ext cx="3089672" cy="47148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1500" b="1" dirty="0">
                <a:latin typeface="Times New Roman" panose="02020603050405020304" pitchFamily="18" charset="0"/>
                <a:cs typeface="Times New Roman" panose="02020603050405020304" pitchFamily="18" charset="0"/>
              </a:rPr>
              <a:t>Entry Form Page </a:t>
            </a:r>
          </a:p>
        </p:txBody>
      </p:sp>
      <p:pic>
        <p:nvPicPr>
          <p:cNvPr id="6392" name="Picture 6392"/>
          <p:cNvPicPr/>
          <p:nvPr/>
        </p:nvPicPr>
        <p:blipFill>
          <a:blip r:embed="rId4"/>
          <a:stretch>
            <a:fillRect/>
          </a:stretch>
        </p:blipFill>
        <p:spPr>
          <a:xfrm>
            <a:off x="248285" y="1212850"/>
            <a:ext cx="4443730" cy="3983355"/>
          </a:xfrm>
          <a:prstGeom prst="rect">
            <a:avLst/>
          </a:prstGeom>
        </p:spPr>
      </p:pic>
      <p:pic>
        <p:nvPicPr>
          <p:cNvPr id="6390" name="Picture 6390"/>
          <p:cNvPicPr/>
          <p:nvPr/>
        </p:nvPicPr>
        <p:blipFill>
          <a:blip r:embed="rId5"/>
          <a:stretch>
            <a:fillRect/>
          </a:stretch>
        </p:blipFill>
        <p:spPr>
          <a:xfrm>
            <a:off x="4805680" y="1212850"/>
            <a:ext cx="4095750" cy="4024630"/>
          </a:xfrm>
          <a:prstGeom prst="rect">
            <a:avLst/>
          </a:prstGeom>
        </p:spPr>
      </p:pic>
      <p:grpSp>
        <p:nvGrpSpPr>
          <p:cNvPr id="6" name="Group 5"/>
          <p:cNvGrpSpPr/>
          <p:nvPr/>
        </p:nvGrpSpPr>
        <p:grpSpPr>
          <a:xfrm>
            <a:off x="342900" y="71120"/>
            <a:ext cx="8719931" cy="1003300"/>
            <a:chOff x="342900" y="71120"/>
            <a:chExt cx="8719931" cy="1003300"/>
          </a:xfrm>
        </p:grpSpPr>
        <p:pic>
          <p:nvPicPr>
            <p:cNvPr id="10" name="Picture 2" descr="Lakshmi Siva Jyoti is the new Additional Commissioner of Guntur Municipal  Corporation"/>
            <p:cNvPicPr>
              <a:picLocks noChangeAspect="1" noChangeArrowheads="1"/>
            </p:cNvPicPr>
            <p:nvPr/>
          </p:nvPicPr>
          <p:blipFill rotWithShape="1">
            <a:blip r:embed="rId6">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p:nvPr/>
          </p:nvPicPr>
          <p:blipFill>
            <a:blip r:embed="rId8"/>
            <a:stretch>
              <a:fillRect/>
            </a:stretch>
          </p:blipFill>
          <p:spPr>
            <a:xfrm>
              <a:off x="342900" y="160338"/>
              <a:ext cx="990600" cy="494982"/>
            </a:xfrm>
            <a:prstGeom prst="rect">
              <a:avLst/>
            </a:prstGeom>
          </p:spPr>
        </p:pic>
        <p:sp>
          <p:nvSpPr>
            <p:cNvPr id="12"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778" y="1303157"/>
            <a:ext cx="3796914" cy="3650304"/>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6570" y="1303157"/>
            <a:ext cx="4335652" cy="3650304"/>
          </a:xfrm>
          <a:prstGeom prst="rect">
            <a:avLst/>
          </a:prstGeom>
        </p:spPr>
      </p:pic>
      <p:sp>
        <p:nvSpPr>
          <p:cNvPr id="11" name="Rectangle 10"/>
          <p:cNvSpPr/>
          <p:nvPr/>
        </p:nvSpPr>
        <p:spPr>
          <a:xfrm>
            <a:off x="3245677" y="5126576"/>
            <a:ext cx="2513738" cy="471488"/>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1500" b="1" dirty="0">
                <a:latin typeface="Times New Roman" panose="02020603050405020304" pitchFamily="18" charset="0"/>
                <a:cs typeface="Times New Roman" panose="02020603050405020304" pitchFamily="18" charset="0"/>
              </a:rPr>
              <a:t>Dashboard Page </a:t>
            </a:r>
          </a:p>
        </p:txBody>
      </p:sp>
      <p:pic>
        <p:nvPicPr>
          <p:cNvPr id="6414" name="Picture 6414"/>
          <p:cNvPicPr/>
          <p:nvPr/>
        </p:nvPicPr>
        <p:blipFill>
          <a:blip r:embed="rId4"/>
          <a:stretch>
            <a:fillRect/>
          </a:stretch>
        </p:blipFill>
        <p:spPr>
          <a:xfrm>
            <a:off x="231775" y="1303020"/>
            <a:ext cx="8541385" cy="3339465"/>
          </a:xfrm>
          <a:prstGeom prst="rect">
            <a:avLst/>
          </a:prstGeom>
        </p:spPr>
      </p:pic>
      <p:grpSp>
        <p:nvGrpSpPr>
          <p:cNvPr id="6" name="Group 5"/>
          <p:cNvGrpSpPr/>
          <p:nvPr/>
        </p:nvGrpSpPr>
        <p:grpSpPr>
          <a:xfrm>
            <a:off x="342900" y="71120"/>
            <a:ext cx="8719931" cy="1003300"/>
            <a:chOff x="342900" y="71120"/>
            <a:chExt cx="8719931" cy="1003300"/>
          </a:xfrm>
        </p:grpSpPr>
        <p:pic>
          <p:nvPicPr>
            <p:cNvPr id="3" name="Picture 2" descr="Lakshmi Siva Jyoti is the new Additional Commissioner of Guntur Municipal  Corporation"/>
            <p:cNvPicPr>
              <a:picLocks noChangeAspect="1" noChangeArrowheads="1"/>
            </p:cNvPicPr>
            <p:nvPr/>
          </p:nvPicPr>
          <p:blipFill rotWithShape="1">
            <a:blip r:embed="rId5">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p:nvPr/>
          </p:nvPicPr>
          <p:blipFill>
            <a:blip r:embed="rId7"/>
            <a:stretch>
              <a:fillRect/>
            </a:stretch>
          </p:blipFill>
          <p:spPr>
            <a:xfrm>
              <a:off x="342900" y="160338"/>
              <a:ext cx="990600" cy="494982"/>
            </a:xfrm>
            <a:prstGeom prst="rect">
              <a:avLst/>
            </a:prstGeom>
          </p:spPr>
        </p:pic>
        <p:sp>
          <p:nvSpPr>
            <p:cNvPr id="12"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9620" y="1334192"/>
            <a:ext cx="5024759" cy="3263504"/>
          </a:xfrm>
          <a:prstGeom prst="rect">
            <a:avLst/>
          </a:prstGeom>
        </p:spPr>
      </p:pic>
      <p:sp>
        <p:nvSpPr>
          <p:cNvPr id="6" name="TextBox 5"/>
          <p:cNvSpPr txBox="1"/>
          <p:nvPr/>
        </p:nvSpPr>
        <p:spPr>
          <a:xfrm>
            <a:off x="3645144" y="4949927"/>
            <a:ext cx="3215149" cy="321945"/>
          </a:xfrm>
          <a:prstGeom prst="rect">
            <a:avLst/>
          </a:prstGeom>
          <a:noFill/>
        </p:spPr>
        <p:txBody>
          <a:bodyPr wrap="square" rtlCol="0">
            <a:spAutoFit/>
          </a:bodyPr>
          <a:lstStyle/>
          <a:p>
            <a:r>
              <a:rPr lang="en-US" altLang="en-US" sz="1500" b="1" dirty="0">
                <a:latin typeface="Times New Roman" panose="02020603050405020304" pitchFamily="18" charset="0"/>
                <a:cs typeface="Times New Roman" panose="02020603050405020304" pitchFamily="18" charset="0"/>
              </a:rPr>
              <a:t>Results Page </a:t>
            </a:r>
          </a:p>
        </p:txBody>
      </p:sp>
      <p:pic>
        <p:nvPicPr>
          <p:cNvPr id="6412" name="Picture 6412"/>
          <p:cNvPicPr/>
          <p:nvPr/>
        </p:nvPicPr>
        <p:blipFill>
          <a:blip r:embed="rId3"/>
          <a:stretch>
            <a:fillRect/>
          </a:stretch>
        </p:blipFill>
        <p:spPr>
          <a:xfrm>
            <a:off x="2058670" y="1334135"/>
            <a:ext cx="5025390" cy="3360420"/>
          </a:xfrm>
          <a:prstGeom prst="rect">
            <a:avLst/>
          </a:prstGeom>
        </p:spPr>
      </p:pic>
      <p:grpSp>
        <p:nvGrpSpPr>
          <p:cNvPr id="2" name="Group 1"/>
          <p:cNvGrpSpPr/>
          <p:nvPr/>
        </p:nvGrpSpPr>
        <p:grpSpPr>
          <a:xfrm>
            <a:off x="342900" y="71120"/>
            <a:ext cx="8719931" cy="1003300"/>
            <a:chOff x="342900" y="71120"/>
            <a:chExt cx="8719931" cy="1003300"/>
          </a:xfrm>
        </p:grpSpPr>
        <p:pic>
          <p:nvPicPr>
            <p:cNvPr id="10" name="Picture 2" descr="Lakshmi Siva Jyoti is the new Additional Commissioner of Guntur Municipal  Corporation"/>
            <p:cNvPicPr>
              <a:picLocks noChangeAspect="1" noChangeArrowheads="1"/>
            </p:cNvPicPr>
            <p:nvPr/>
          </p:nvPicPr>
          <p:blipFill rotWithShape="1">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p:nvPr/>
          </p:nvPicPr>
          <p:blipFill>
            <a:blip r:embed="rId6"/>
            <a:stretch>
              <a:fillRect/>
            </a:stretch>
          </p:blipFill>
          <p:spPr>
            <a:xfrm>
              <a:off x="342900" y="160338"/>
              <a:ext cx="990600" cy="494982"/>
            </a:xfrm>
            <a:prstGeom prst="rect">
              <a:avLst/>
            </a:prstGeom>
          </p:spPr>
        </p:pic>
        <p:sp>
          <p:nvSpPr>
            <p:cNvPr id="12"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16185"/>
            <a:ext cx="7886700" cy="657950"/>
          </a:xfrm>
        </p:spPr>
        <p:txBody>
          <a:bodyPr>
            <a:noAutofit/>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28650" y="1908313"/>
            <a:ext cx="7886700" cy="3581660"/>
          </a:xfrm>
        </p:spPr>
        <p:txBody>
          <a:bodyPr>
            <a:noAutofit/>
          </a:bodyPr>
          <a:lstStyle/>
          <a:p>
            <a:pPr marL="0" indent="0" algn="just">
              <a:lnSpc>
                <a:spcPct val="100000"/>
              </a:lnSpc>
              <a:buNone/>
            </a:pPr>
            <a:r>
              <a:rPr lang="en-US" altLang="en-US" sz="1600" dirty="0">
                <a:latin typeface="Times New Roman" panose="02020603050405020304" pitchFamily="18" charset="0"/>
                <a:cs typeface="Times New Roman" panose="02020603050405020304" pitchFamily="18" charset="0"/>
              </a:rPr>
              <a:t>The PHP Full-Stack Letter Management System has successfully streamlined document management processes by providing a centralized platform for document submission, categorization, approval, and retrieval. The system integrates a user-friendly interface with robust backend functionalities, ensuring a seamless experience for all stakeholders involved in document management. The workflow automation allows for efficient approval processes, ensuring timely handling of documents while minimizing human errors.</a:t>
            </a:r>
          </a:p>
          <a:p>
            <a:pPr marL="0" indent="0" algn="just">
              <a:lnSpc>
                <a:spcPct val="100000"/>
              </a:lnSpc>
              <a:buNone/>
            </a:pPr>
            <a:r>
              <a:rPr lang="en-US" altLang="en-US" sz="1600" dirty="0">
                <a:latin typeface="Times New Roman" panose="02020603050405020304" pitchFamily="18" charset="0"/>
                <a:cs typeface="Times New Roman" panose="02020603050405020304" pitchFamily="18" charset="0"/>
              </a:rPr>
              <a:t>The reporting and analytics features offer valuable insights into document processing metrics, enabling organizations to optimize their operations further. With advanced search functionalities, version control, and audit trails, the system offers a high level of security and traceability, essential for organizations that handle sensitive information. Overall, the system improves productivity, reduces the time spent on administrative tasks, and enhances collaboration between users, leading to more effective and organized document management</a:t>
            </a:r>
          </a:p>
        </p:txBody>
      </p:sp>
      <p:grpSp>
        <p:nvGrpSpPr>
          <p:cNvPr id="6" name="Group 5"/>
          <p:cNvGrpSpPr/>
          <p:nvPr/>
        </p:nvGrpSpPr>
        <p:grpSpPr>
          <a:xfrm>
            <a:off x="342900" y="71120"/>
            <a:ext cx="8719931" cy="1003300"/>
            <a:chOff x="342900" y="71120"/>
            <a:chExt cx="8719931" cy="1003300"/>
          </a:xfrm>
        </p:grpSpPr>
        <p:pic>
          <p:nvPicPr>
            <p:cNvPr id="10"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p:nvPr/>
          </p:nvPicPr>
          <p:blipFill>
            <a:blip r:embed="rId4"/>
            <a:stretch>
              <a:fillRect/>
            </a:stretch>
          </p:blipFill>
          <p:spPr>
            <a:xfrm>
              <a:off x="342900" y="160338"/>
              <a:ext cx="990600" cy="494982"/>
            </a:xfrm>
            <a:prstGeom prst="rect">
              <a:avLst/>
            </a:prstGeom>
          </p:spPr>
        </p:pic>
        <p:sp>
          <p:nvSpPr>
            <p:cNvPr id="12"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4071" y="1277579"/>
            <a:ext cx="8155858" cy="443926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7200" b="1" dirty="0">
                <a:latin typeface="Times New Roman" panose="02020603050405020304" pitchFamily="18" charset="0"/>
                <a:cs typeface="Times New Roman" panose="02020603050405020304" pitchFamily="18" charset="0"/>
              </a:rPr>
              <a:t>Thank You</a:t>
            </a:r>
          </a:p>
        </p:txBody>
      </p:sp>
      <p:grpSp>
        <p:nvGrpSpPr>
          <p:cNvPr id="6" name="Group 5"/>
          <p:cNvGrpSpPr/>
          <p:nvPr/>
        </p:nvGrpSpPr>
        <p:grpSpPr>
          <a:xfrm>
            <a:off x="342900" y="71120"/>
            <a:ext cx="8719931" cy="1003300"/>
            <a:chOff x="342900" y="71120"/>
            <a:chExt cx="8719931" cy="1003300"/>
          </a:xfrm>
        </p:grpSpPr>
        <p:pic>
          <p:nvPicPr>
            <p:cNvPr id="10" name="Picture 2" descr="Lakshmi Siva Jyoti is the new Additional Commissioner of Guntur Municipal  Corporation"/>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0599" t="13833" r="3583" b="10924"/>
            <a:stretch>
              <a:fillRect/>
            </a:stretch>
          </p:blipFill>
          <p:spPr bwMode="auto">
            <a:xfrm>
              <a:off x="7027854" y="71120"/>
              <a:ext cx="2034977"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p:nvPr/>
          </p:nvPicPr>
          <p:blipFill>
            <a:blip r:embed="rId4"/>
            <a:stretch>
              <a:fillRect/>
            </a:stretch>
          </p:blipFill>
          <p:spPr>
            <a:xfrm>
              <a:off x="342900" y="160338"/>
              <a:ext cx="990600" cy="494982"/>
            </a:xfrm>
            <a:prstGeom prst="rect">
              <a:avLst/>
            </a:prstGeom>
          </p:spPr>
        </p:pic>
        <p:sp>
          <p:nvSpPr>
            <p:cNvPr id="12" name="TextBox 8"/>
            <p:cNvSpPr txBox="1"/>
            <p:nvPr/>
          </p:nvSpPr>
          <p:spPr>
            <a:xfrm>
              <a:off x="1856822" y="240908"/>
              <a:ext cx="5153333" cy="646331"/>
            </a:xfrm>
            <a:prstGeom prst="rect">
              <a:avLst/>
            </a:prstGeom>
            <a:noFill/>
          </p:spPr>
          <p:txBody>
            <a:bodyPr wrap="square">
              <a:spAutoFit/>
            </a:bodyPr>
            <a:lstStyle/>
            <a:p>
              <a:pPr algn="ctr"/>
              <a:r>
                <a:rPr lang="en-IN" sz="1800" b="1" dirty="0">
                  <a:solidFill>
                    <a:srgbClr val="000000"/>
                  </a:solidFill>
                  <a:effectLst/>
                  <a:latin typeface="Times New Roman" panose="02020603050405020304" pitchFamily="18" charset="0"/>
                  <a:ea typeface="Times New Roman" panose="02020603050405020304" pitchFamily="18" charset="0"/>
                </a:rPr>
                <a:t> KKR &amp; KSR INSTITUTE OF TECHNOLOGY AND SCIENCES </a:t>
              </a:r>
              <a:endParaRPr lang="en-IN"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TotalTime>
  <Words>4042</Words>
  <Application>Microsoft Office PowerPoint</Application>
  <PresentationFormat>On-screen Show (4:3)</PresentationFormat>
  <Paragraphs>266</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Symbol</vt:lpstr>
      <vt:lpstr>Times New Roman</vt:lpstr>
      <vt:lpstr>Office Theme</vt:lpstr>
      <vt:lpstr> Intelligent Letter Processing System For improved efficiency in Commissioner Peshi of Guntur Municipal Corporation  </vt:lpstr>
      <vt:lpstr>  Abstract </vt:lpstr>
      <vt:lpstr> Introduction</vt:lpstr>
      <vt:lpstr>PowerPoint Presentation</vt:lpstr>
      <vt:lpstr>PowerPoint Presentation</vt:lpstr>
      <vt:lpstr>PowerPoint Presentation</vt:lpstr>
      <vt:lpstr> Problem Identification</vt:lpstr>
      <vt:lpstr> Proposed System</vt:lpstr>
      <vt:lpstr> Requirement Analysis</vt:lpstr>
      <vt:lpstr>Module Description </vt:lpstr>
      <vt:lpstr>PowerPoint Presentation</vt:lpstr>
      <vt:lpstr>  Process Model Used </vt:lpstr>
      <vt:lpstr>PowerPoint Presentation</vt:lpstr>
      <vt:lpstr>PowerPoint Presentation</vt:lpstr>
      <vt:lpstr>Design Phase</vt:lpstr>
      <vt:lpstr>PowerPoint Presentation</vt:lpstr>
      <vt:lpstr>PowerPoint Presentation</vt:lpstr>
      <vt:lpstr>Design Phase</vt:lpstr>
      <vt:lpstr>Class Diagram</vt:lpstr>
      <vt:lpstr>Use Case Diagram </vt:lpstr>
      <vt:lpstr>Sequence Diagram </vt:lpstr>
      <vt:lpstr>Activity Diagram</vt:lpstr>
      <vt:lpstr>Architectural Design </vt:lpstr>
      <vt:lpstr>Algorithm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navya redla</dc:creator>
  <dc:description>generated using python-pptx</dc:description>
  <cp:lastModifiedBy>SASANK SAI VULCHI</cp:lastModifiedBy>
  <cp:revision>79</cp:revision>
  <dcterms:created xsi:type="dcterms:W3CDTF">2013-01-27T09:14:00Z</dcterms:created>
  <dcterms:modified xsi:type="dcterms:W3CDTF">2025-11-01T19:32:52Z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A20BAED569AE492CBA27587CB5683033_12</vt:lpwstr>
  </property>
  <property fmtid="{D5CDD505-2E9C-101B-9397-08002B2CF9AE}" pid="3" name="KSOProductBuildVer">
    <vt:lpwstr>1033-12.2.0.20326</vt:lpwstr>
  </property>
</Properties>
</file>